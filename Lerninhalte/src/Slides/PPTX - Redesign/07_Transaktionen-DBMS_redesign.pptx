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Redesign follows the supplied ICT-LearnFactory Brand Guide (Aptos typography; Charcoal Flux #272726, Hyper Teal #45D9C7, Lumen Zest #D9EB12, Abyss Teal #29948C; geometric brand-mark pattern language).
- Slide content is preserved from the uploaded source presentation 07_Transaktionen-DBMS.odp.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2726"/>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45D9C7"/>
          </a:solidFill>
          <a:ln w="12700">
            <a:solidFill>
              <a:srgbClr val="45D9C7">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45D9C7"/>
          </a:solidFill>
          <a:ln w="12700">
            <a:solidFill>
              <a:srgbClr val="45D9C7">
                <a:alpha val="0"/>
              </a:srgbClr>
            </a:solidFill>
            <a:prstDash val="solid"/>
          </a:ln>
        </p:spPr>
      </p:sp>
      <p:sp>
        <p:nvSpPr>
          <p:cNvPr id="5" name="Shape 3"/>
          <p:cNvSpPr/>
          <p:nvPr/>
        </p:nvSpPr>
        <p:spPr>
          <a:xfrm>
            <a:off x="11082528" y="0"/>
            <a:ext cx="256032" cy="960120"/>
          </a:xfrm>
          <a:prstGeom prst="rect">
            <a:avLst/>
          </a:prstGeom>
          <a:solidFill>
            <a:srgbClr val="45D9C7"/>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29948C"/>
          </a:solidFill>
          <a:ln w="12700">
            <a:solidFill>
              <a:srgbClr val="29948C">
                <a:alpha val="0"/>
              </a:srgbClr>
            </a:solidFill>
            <a:prstDash val="solid"/>
          </a:ln>
        </p:spPr>
      </p:sp>
      <p:sp>
        <p:nvSpPr>
          <p:cNvPr id="8" name="Text 6"/>
          <p:cNvSpPr/>
          <p:nvPr/>
        </p:nvSpPr>
        <p:spPr>
          <a:xfrm>
            <a:off x="804672" y="3456432"/>
            <a:ext cx="8138160" cy="1115568"/>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Multi-User-Applikationen</a:t>
            </a:r>
            <a:endParaRPr lang="en-US" sz="3000" dirty="0"/>
          </a:p>
          <a:p>
            <a:pPr indent="0" marL="0">
              <a:buNone/>
            </a:pPr>
            <a:r>
              <a:rPr lang="en-US" sz="3000" b="1" dirty="0">
                <a:solidFill>
                  <a:srgbClr val="FFFFFF"/>
                </a:solidFill>
                <a:latin typeface="Aptos Display" pitchFamily="34" charset="0"/>
                <a:ea typeface="Aptos Display" pitchFamily="34" charset="-122"/>
                <a:cs typeface="Aptos Display" pitchFamily="34" charset="-120"/>
              </a:rPr>
              <a:t>objektorientiert realisieren</a:t>
            </a:r>
            <a:endParaRPr lang="en-US" sz="3000" dirty="0"/>
          </a:p>
        </p:txBody>
      </p:sp>
      <p:sp>
        <p:nvSpPr>
          <p:cNvPr id="9" name="Shape 7"/>
          <p:cNvSpPr/>
          <p:nvPr/>
        </p:nvSpPr>
        <p:spPr>
          <a:xfrm>
            <a:off x="804672" y="4809744"/>
            <a:ext cx="1828800" cy="73152"/>
          </a:xfrm>
          <a:prstGeom prst="rect">
            <a:avLst/>
          </a:prstGeom>
          <a:solidFill>
            <a:srgbClr val="D9EB12"/>
          </a:solidFill>
          <a:ln w="12700">
            <a:solidFill>
              <a:srgbClr val="D9EB12">
                <a:alpha val="0"/>
              </a:srgbClr>
            </a:solidFill>
            <a:prstDash val="solid"/>
          </a:ln>
        </p:spPr>
      </p:sp>
      <p:sp>
        <p:nvSpPr>
          <p:cNvPr id="10" name="Text 8"/>
          <p:cNvSpPr/>
          <p:nvPr/>
        </p:nvSpPr>
        <p:spPr>
          <a:xfrm>
            <a:off x="804672" y="5157216"/>
            <a:ext cx="6035040" cy="53035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Transaktionen in DBMS</a:t>
            </a:r>
            <a:endParaRPr lang="en-US" sz="2900" dirty="0"/>
          </a:p>
        </p:txBody>
      </p:sp>
      <p:sp>
        <p:nvSpPr>
          <p:cNvPr id="11" name="Text 9"/>
          <p:cNvSpPr/>
          <p:nvPr/>
        </p:nvSpPr>
        <p:spPr>
          <a:xfrm>
            <a:off x="9646920" y="6144768"/>
            <a:ext cx="960120" cy="164592"/>
          </a:xfrm>
          <a:prstGeom prst="rect">
            <a:avLst/>
          </a:prstGeom>
          <a:noFill/>
          <a:ln/>
        </p:spPr>
        <p:txBody>
          <a:bodyPr wrap="square" lIns="0" tIns="0" rIns="0" bIns="0" rtlCol="0" anchor="ctr"/>
          <a:lstStyle/>
          <a:p>
            <a:pPr indent="0" marL="0">
              <a:buNone/>
            </a:pPr>
            <a:r>
              <a:rPr lang="en-US" sz="800" dirty="0">
                <a:solidFill>
                  <a:srgbClr val="FFFFFF"/>
                </a:solidFill>
                <a:latin typeface="Aptos" pitchFamily="34" charset="0"/>
                <a:ea typeface="Aptos" pitchFamily="34" charset="-122"/>
                <a:cs typeface="Aptos" pitchFamily="34" charset="-120"/>
              </a:rPr>
              <a:t>08/16/26</a:t>
            </a:r>
            <a:endParaRPr lang="en-US" sz="800" dirty="0"/>
          </a:p>
        </p:txBody>
      </p:sp>
      <p:sp>
        <p:nvSpPr>
          <p:cNvPr id="12" name="Text 10"/>
          <p:cNvSpPr/>
          <p:nvPr/>
        </p:nvSpPr>
        <p:spPr>
          <a:xfrm>
            <a:off x="1353312" y="566928"/>
            <a:ext cx="2011680" cy="201168"/>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ICT-LEARNFACTORY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Handlungsnotwendige Kenntnisse</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pitchFamily="34" charset="0"/>
                <a:ea typeface="Aptos" pitchFamily="34" charset="-122"/>
                <a:cs typeface="Aptos" pitchFamily="34" charset="-120"/>
              </a:rPr>
              <a:t>1.1 Kennt Anforderungen an das Datenbankmanagement-System bezüglich Multi-User-Fähigkeit.</a:t>
            </a:r>
            <a:endParaRPr lang="en-US" sz="2346" dirty="0"/>
          </a:p>
          <a:p>
            <a:pPr indent="0" marL="0">
              <a:buNone/>
            </a:pPr>
            <a:r>
              <a:rPr lang="en-US" sz="2346" dirty="0">
                <a:solidFill>
                  <a:srgbClr val="272726"/>
                </a:solidFill>
                <a:latin typeface="Aptos" pitchFamily="34" charset="0"/>
                <a:ea typeface="Aptos" pitchFamily="34" charset="-122"/>
                <a:cs typeface="Aptos" pitchFamily="34" charset="-120"/>
              </a:rPr>
              <a:t>3.3 Kennt Möglichkeiten, um Transaktionen im DBMS sicherzustellen.</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Ziele</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pitchFamily="34" charset="0"/>
                <a:ea typeface="Aptos" pitchFamily="34" charset="-122"/>
                <a:cs typeface="Aptos" pitchFamily="34" charset="-120"/>
              </a:rPr>
              <a:t>Du kannst die verschiedenen Isolationsprobleme auf Datenbank Ebene erklären</a:t>
            </a:r>
            <a:endParaRPr lang="en-US" sz="2346" dirty="0"/>
          </a:p>
          <a:p>
            <a:pPr indent="0" marL="0">
              <a:buNone/>
            </a:pPr>
            <a:r>
              <a:rPr lang="en-US" sz="2346" dirty="0">
                <a:solidFill>
                  <a:srgbClr val="272726"/>
                </a:solidFill>
                <a:latin typeface="Aptos" pitchFamily="34" charset="0"/>
                <a:ea typeface="Aptos" pitchFamily="34" charset="-122"/>
                <a:cs typeface="Aptos" pitchFamily="34" charset="-120"/>
              </a:rPr>
              <a:t>Du kennst die verschiedenen Isolationslevel</a:t>
            </a:r>
            <a:endParaRPr lang="en-US" sz="2346" dirty="0"/>
          </a:p>
          <a:p>
            <a:pPr indent="0" marL="0">
              <a:buNone/>
            </a:pPr>
            <a:r>
              <a:rPr lang="en-US" sz="2346" dirty="0">
                <a:solidFill>
                  <a:srgbClr val="272726"/>
                </a:solidFill>
                <a:latin typeface="Aptos" pitchFamily="34" charset="0"/>
                <a:ea typeface="Aptos" pitchFamily="34" charset="-122"/>
                <a:cs typeface="Aptos" pitchFamily="34" charset="-120"/>
              </a:rPr>
              <a:t>Du kannst die vier ACID Kriterien aufzählen</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621792"/>
            <a:ext cx="8458200" cy="621792"/>
          </a:xfrm>
          <a:prstGeom prst="rect">
            <a:avLst/>
          </a:prstGeom>
          <a:noFill/>
          <a:ln/>
        </p:spPr>
        <p:txBody>
          <a:bodyPr wrap="square" lIns="0" tIns="0" rIns="0" bIns="0" rtlCol="0" anchor="ctr">
            <a:normAutofit/>
          </a:bodyPr>
          <a:lstStyle/>
          <a:p>
            <a:pPr indent="0" marL="0">
              <a:buNone/>
            </a:pPr>
            <a:r>
              <a:rPr lang="en-US" sz="2900" b="1" dirty="0">
                <a:solidFill>
                  <a:srgbClr val="272726"/>
                </a:solidFill>
                <a:latin typeface="Aptos Display" pitchFamily="34" charset="0"/>
                <a:ea typeface="Aptos Display" pitchFamily="34" charset="-122"/>
                <a:cs typeface="Aptos Display" pitchFamily="34" charset="-120"/>
              </a:rPr>
              <a:t>«Als Transaktion bezeichnet man in der Informatik eine Folge von Programmschritten, die als eine logische Einheit betrachtet werden, weil sie den Datenbestand nach fehlerfreier und vollständiger Ausführung in einem konsistenten Zustand hinterlassen. Daher wird für eine Transaktion insbesondere gefordert, dass sie entweder vollständig und fehlerfrei oder gar nicht ausgeführt wird.» Wikipedia</a:t>
            </a:r>
            <a:endParaRPr lang="en-US" sz="2900" dirty="0"/>
          </a:p>
        </p:txBody>
      </p:sp>
      <p:sp>
        <p:nvSpPr>
          <p:cNvPr id="9" name="Shape 7"/>
          <p:cNvSpPr/>
          <p:nvPr/>
        </p:nvSpPr>
        <p:spPr>
          <a:xfrm>
            <a:off x="841248" y="1335024"/>
            <a:ext cx="1463040" cy="73152"/>
          </a:xfrm>
          <a:prstGeom prst="rect">
            <a:avLst/>
          </a:prstGeom>
          <a:solidFill>
            <a:srgbClr val="D9EB12"/>
          </a:solidFill>
          <a:ln w="12700">
            <a:solidFill>
              <a:srgbClr val="D9EB12">
                <a:alpha val="0"/>
              </a:srgbClr>
            </a:solidFill>
            <a:prstDash val="solid"/>
          </a:ln>
        </p:spPr>
      </p:sp>
      <p:sp>
        <p:nvSpPr>
          <p:cNvPr id="10" name="Shape 8"/>
          <p:cNvSpPr/>
          <p:nvPr/>
        </p:nvSpPr>
        <p:spPr>
          <a:xfrm>
            <a:off x="1252728" y="1545336"/>
            <a:ext cx="9701784" cy="4608576"/>
          </a:xfrm>
          <a:prstGeom prst="rect">
            <a:avLst/>
          </a:prstGeom>
          <a:solidFill>
            <a:srgbClr val="FFFFFF"/>
          </a:solidFill>
          <a:ln w="8890">
            <a:solidFill>
              <a:srgbClr val="E4ECEB"/>
            </a:solidFill>
            <a:prstDash val="solid"/>
          </a:ln>
        </p:spPr>
      </p:sp>
      <p:pic>
        <p:nvPicPr>
          <p:cNvPr id="11" name="Image 0" descr="/mnt/data/batch_work/converted/07_Transaktionen-DBMS/slide-4.png">    </p:cNvPr>
          <p:cNvPicPr>
            <a:picLocks noChangeAspect="1"/>
          </p:cNvPicPr>
          <p:nvPr/>
        </p:nvPicPr>
        <p:blipFill>
          <a:blip r:embed="rId1"/>
          <a:stretch>
            <a:fillRect/>
          </a:stretch>
        </p:blipFill>
        <p:spPr>
          <a:xfrm>
            <a:off x="2058406" y="1572768"/>
            <a:ext cx="8090428" cy="4553712"/>
          </a:xfrm>
          <a:prstGeom prst="rect">
            <a:avLst/>
          </a:prstGeom>
        </p:spPr>
      </p:pic>
      <p:sp>
        <p:nvSpPr>
          <p:cNvPr id="12"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3"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621792"/>
            <a:ext cx="8458200" cy="621792"/>
          </a:xfrm>
          <a:prstGeom prst="rect">
            <a:avLst/>
          </a:prstGeom>
          <a:noFill/>
          <a:ln/>
        </p:spPr>
        <p:txBody>
          <a:bodyPr wrap="square" lIns="0" tIns="0" rIns="0" bIns="0" rtlCol="0" anchor="ctr">
            <a:normAutofit/>
          </a:bodyPr>
          <a:lstStyle/>
          <a:p>
            <a:pPr indent="0" marL="0">
              <a:buNone/>
            </a:pPr>
            <a:r>
              <a:rPr lang="en-US" sz="2900" b="1" dirty="0">
                <a:solidFill>
                  <a:srgbClr val="272726"/>
                </a:solidFill>
                <a:latin typeface="Aptos Display" pitchFamily="34" charset="0"/>
                <a:ea typeface="Aptos Display" pitchFamily="34" charset="-122"/>
                <a:cs typeface="Aptos Display" pitchFamily="34" charset="-120"/>
              </a:rPr>
              <a:t>Transaktion Ablauf</a:t>
            </a:r>
            <a:endParaRPr lang="en-US" sz="2900" dirty="0"/>
          </a:p>
        </p:txBody>
      </p:sp>
      <p:sp>
        <p:nvSpPr>
          <p:cNvPr id="9" name="Shape 7"/>
          <p:cNvSpPr/>
          <p:nvPr/>
        </p:nvSpPr>
        <p:spPr>
          <a:xfrm>
            <a:off x="841248" y="1335024"/>
            <a:ext cx="1463040" cy="73152"/>
          </a:xfrm>
          <a:prstGeom prst="rect">
            <a:avLst/>
          </a:prstGeom>
          <a:solidFill>
            <a:srgbClr val="D9EB12"/>
          </a:solidFill>
          <a:ln w="12700">
            <a:solidFill>
              <a:srgbClr val="D9EB12">
                <a:alpha val="0"/>
              </a:srgbClr>
            </a:solidFill>
            <a:prstDash val="solid"/>
          </a:ln>
        </p:spPr>
      </p:sp>
      <p:sp>
        <p:nvSpPr>
          <p:cNvPr id="10" name="Shape 8"/>
          <p:cNvSpPr/>
          <p:nvPr/>
        </p:nvSpPr>
        <p:spPr>
          <a:xfrm>
            <a:off x="1252728" y="1545336"/>
            <a:ext cx="9701784" cy="4608576"/>
          </a:xfrm>
          <a:prstGeom prst="rect">
            <a:avLst/>
          </a:prstGeom>
          <a:solidFill>
            <a:srgbClr val="FFFFFF"/>
          </a:solidFill>
          <a:ln w="8890">
            <a:solidFill>
              <a:srgbClr val="E4ECEB"/>
            </a:solidFill>
            <a:prstDash val="solid"/>
          </a:ln>
        </p:spPr>
      </p:sp>
      <p:pic>
        <p:nvPicPr>
          <p:cNvPr id="11" name="Image 0" descr="/mnt/data/batch_work/converted/07_Transaktionen-DBMS/slide-5.png">    </p:cNvPr>
          <p:cNvPicPr>
            <a:picLocks noChangeAspect="1"/>
          </p:cNvPicPr>
          <p:nvPr/>
        </p:nvPicPr>
        <p:blipFill>
          <a:blip r:embed="rId1"/>
          <a:stretch>
            <a:fillRect/>
          </a:stretch>
        </p:blipFill>
        <p:spPr>
          <a:xfrm>
            <a:off x="2058406" y="1572768"/>
            <a:ext cx="8090428" cy="4553712"/>
          </a:xfrm>
          <a:prstGeom prst="rect">
            <a:avLst/>
          </a:prstGeom>
        </p:spPr>
      </p:pic>
      <p:sp>
        <p:nvSpPr>
          <p:cNvPr id="12"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3"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Refresher MSSQL Statements</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Mono" pitchFamily="34" charset="0"/>
                <a:ea typeface="Aptos Mono" pitchFamily="34" charset="-122"/>
                <a:cs typeface="Aptos Mono" pitchFamily="34" charset="-120"/>
              </a:rPr>
              <a:t>BEGIN TRANSACTION </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Neue Transaktion starten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COMMIT TRANSACTION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Änderungen persistieren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ROLLBACK TRANSACTION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Änderungen verwerfen</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Beispiel Transaktion</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Mono" pitchFamily="34" charset="0"/>
                <a:ea typeface="Aptos Mono" pitchFamily="34" charset="-122"/>
                <a:cs typeface="Aptos Mono" pitchFamily="34" charset="-120"/>
              </a:rPr>
              <a:t>BEGIN TRANSACTION;</a:t>
            </a:r>
            <a:endParaRPr lang="en-US" sz="2346" dirty="0"/>
          </a:p>
          <a:p>
            <a:pPr indent="0" marL="0">
              <a:buNone/>
            </a:pP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UPDATE TICKET SET AMOUNT = 2 WHERE ID = 1;</a:t>
            </a:r>
            <a:endParaRPr lang="en-US" sz="2346" dirty="0"/>
          </a:p>
          <a:p>
            <a:pPr indent="0" marL="0">
              <a:buNone/>
            </a:pP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UPDATE TICKET SET AMOUNT = 3 WHERE ID = 4;</a:t>
            </a:r>
            <a:endParaRPr lang="en-US" sz="2346" dirty="0"/>
          </a:p>
          <a:p>
            <a:pPr indent="0" marL="0">
              <a:buNone/>
            </a:pP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COMMIT TRANSACTION;</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ACID-Prinzip</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Eigenschaften von verlässlichen Transaktionen</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Atomarität</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Konsistenz</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Isolation</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Dauerhaftigkeit</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8.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ACID-Prinzip</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Transaktionen werden ganz oder gar nicht ausgeführt</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Transaktionen können aus mehreren SQL-Statements bestehen</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Bei Abbruch der Transaktion (Rollback) bleibt die Datenbank unverändert</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9.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ACID-Prinzip</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Änderungen der Transaktion werden dauerhaft gespeichert</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Dauerhafte Speicherung darf nicht durch einen Systemfehler verhindert werden</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10.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Isolationsprobleme – Lost Update</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Zwei Transaktionen modifizieren parallel den gleichen Datensatz</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Nur die Änderung einer Transaktion wird übernommen</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11.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Isolationsprobleme – Dirty Read</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Daten einer nicht abgeschlossenen Transaktion werden von einer anderen Transaktion gelesen</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12.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Isolationsprobleme – Non-repeatable Read</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Wiederholte Lesevorgänge liefern unterschiedliche Ergebnisse </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Die Anzahl Datensätze bleibt bei den beiden Lesevorgängen gleich, der Inhalt ändert sicher aber</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13.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3246120" cy="868680"/>
          </a:xfrm>
          <a:prstGeom prst="rect">
            <a:avLst/>
          </a:prstGeom>
          <a:noFill/>
          <a:ln/>
        </p:spPr>
        <p:txBody>
          <a:bodyPr wrap="square" lIns="0" tIns="0" rIns="0" bIns="0" rtlCol="0" anchor="ctr">
            <a:normAutofit/>
          </a:bodyPr>
          <a:lstStyle/>
          <a:p>
            <a:pPr indent="0" marL="0">
              <a:buNone/>
            </a:pPr>
            <a:r>
              <a:rPr lang="en-US" sz="2600" b="1" dirty="0">
                <a:solidFill>
                  <a:srgbClr val="272726"/>
                </a:solidFill>
                <a:latin typeface="Aptos Display" pitchFamily="34" charset="0"/>
                <a:ea typeface="Aptos Display" pitchFamily="34" charset="-122"/>
                <a:cs typeface="Aptos Display" pitchFamily="34" charset="-120"/>
              </a:rPr>
              <a:t>Isolationsprobleme – Phantom Read</a:t>
            </a:r>
            <a:endParaRPr lang="en-US" sz="2600" dirty="0"/>
          </a:p>
        </p:txBody>
      </p:sp>
      <p:sp>
        <p:nvSpPr>
          <p:cNvPr id="9" name="Shape 7"/>
          <p:cNvSpPr/>
          <p:nvPr/>
        </p:nvSpPr>
        <p:spPr>
          <a:xfrm>
            <a:off x="841248" y="1664208"/>
            <a:ext cx="14173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38528"/>
            <a:ext cx="3246120" cy="3886200"/>
          </a:xfrm>
          <a:prstGeom prst="rect">
            <a:avLst/>
          </a:prstGeom>
          <a:noFill/>
          <a:ln/>
        </p:spPr>
        <p:txBody>
          <a:bodyPr wrap="square" lIns="1016" tIns="1016" rIns="1016" bIns="1016" rtlCol="0" anchor="ctr">
            <a:normAutofit/>
          </a:bodyPr>
          <a:lstStyle/>
          <a:p>
            <a:pPr indent="0" marL="0">
              <a:buNone/>
            </a:pPr>
            <a:r>
              <a:rPr lang="en-US" sz="1947" dirty="0">
                <a:solidFill>
                  <a:srgbClr val="272726"/>
                </a:solidFill>
                <a:latin typeface="Aptos" pitchFamily="34" charset="0"/>
                <a:ea typeface="Aptos" pitchFamily="34" charset="-122"/>
                <a:cs typeface="Aptos" pitchFamily="34" charset="-120"/>
              </a:rPr>
              <a:t>Suchkriterien treffen während einer Transaktion auf unterschiedliche Datensätze zu</a:t>
            </a:r>
            <a:endParaRPr lang="en-US" sz="1947" dirty="0"/>
          </a:p>
          <a:p>
            <a:pPr indent="0" marL="0">
              <a:buNone/>
            </a:pPr>
            <a:r>
              <a:rPr lang="en-US" sz="1947" dirty="0">
                <a:solidFill>
                  <a:srgbClr val="272726"/>
                </a:solidFill>
                <a:latin typeface="Aptos" pitchFamily="34" charset="0"/>
                <a:ea typeface="Aptos" pitchFamily="34" charset="-122"/>
                <a:cs typeface="Aptos" pitchFamily="34" charset="-120"/>
              </a:rPr>
              <a:t>Die Anzahl Resultate bei den beiden Lesevorgängen ist unterschiedlich</a:t>
            </a:r>
            <a:endParaRPr lang="en-US" sz="1947" dirty="0"/>
          </a:p>
        </p:txBody>
      </p:sp>
      <p:sp>
        <p:nvSpPr>
          <p:cNvPr id="11" name="Shape 9"/>
          <p:cNvSpPr/>
          <p:nvPr/>
        </p:nvSpPr>
        <p:spPr>
          <a:xfrm>
            <a:off x="5047488" y="1389888"/>
            <a:ext cx="6409944" cy="4855464"/>
          </a:xfrm>
          <a:prstGeom prst="rect">
            <a:avLst/>
          </a:prstGeom>
          <a:solidFill>
            <a:srgbClr val="FFFFFF"/>
          </a:solidFill>
          <a:ln w="8890">
            <a:solidFill>
              <a:srgbClr val="E4ECEB"/>
            </a:solidFill>
            <a:prstDash val="solid"/>
          </a:ln>
        </p:spPr>
      </p:sp>
      <p:pic>
        <p:nvPicPr>
          <p:cNvPr id="12" name="Image 0" descr="/mnt/data/batch_work/converted/07_Transaktionen-DBMS/slide-14.png">    </p:cNvPr>
          <p:cNvPicPr>
            <a:picLocks noChangeAspect="1"/>
          </p:cNvPicPr>
          <p:nvPr/>
        </p:nvPicPr>
        <p:blipFill>
          <a:blip r:embed="rId1"/>
          <a:stretch>
            <a:fillRect/>
          </a:stretch>
        </p:blipFill>
        <p:spPr>
          <a:xfrm>
            <a:off x="5074920" y="2029136"/>
            <a:ext cx="6355080" cy="3576968"/>
          </a:xfrm>
          <a:prstGeom prst="rect">
            <a:avLst/>
          </a:prstGeom>
        </p:spPr>
      </p:pic>
      <p:sp>
        <p:nvSpPr>
          <p:cNvPr id="13" name="Text 10"/>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4" name="Text 11"/>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Isolationslevel</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Mono" pitchFamily="34" charset="0"/>
                <a:ea typeface="Aptos Mono" pitchFamily="34" charset="-122"/>
                <a:cs typeface="Aptos Mono" pitchFamily="34" charset="-120"/>
              </a:rPr>
              <a:t>Read uncommitted / Dirty Read</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Uncommittete Daten von anderen Transaktionen werden gelesen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Bei einem SELECT wird kein Lock gemacht</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Read committed</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Nur committete Daten werden gelesen</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Jedes SELECT Statement hat einen eigenen Snapshot</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713232"/>
            <a:ext cx="8366760" cy="758952"/>
          </a:xfrm>
          <a:prstGeom prst="rect">
            <a:avLst/>
          </a:prstGeom>
          <a:noFill/>
          <a:ln/>
        </p:spPr>
        <p:txBody>
          <a:bodyPr wrap="square" lIns="0" tIns="0" rIns="0" bIns="0" rtlCol="0" anchor="ctr">
            <a:normAutofit/>
          </a:bodyPr>
          <a:lstStyle/>
          <a:p>
            <a:pPr indent="0" marL="0">
              <a:buNone/>
            </a:pPr>
            <a:r>
              <a:rPr lang="en-US" sz="3100" b="1" dirty="0">
                <a:solidFill>
                  <a:srgbClr val="272726"/>
                </a:solidFill>
                <a:latin typeface="Aptos Display" pitchFamily="34" charset="0"/>
                <a:ea typeface="Aptos Display" pitchFamily="34" charset="-122"/>
                <a:cs typeface="Aptos Display" pitchFamily="34" charset="-120"/>
              </a:rPr>
              <a:t>Isolationslevel</a:t>
            </a:r>
            <a:endParaRPr lang="en-US" sz="3100" dirty="0"/>
          </a:p>
        </p:txBody>
      </p:sp>
      <p:sp>
        <p:nvSpPr>
          <p:cNvPr id="9" name="Shape 7"/>
          <p:cNvSpPr/>
          <p:nvPr/>
        </p:nvSpPr>
        <p:spPr>
          <a:xfrm>
            <a:off x="1024128" y="1581912"/>
            <a:ext cx="1645920" cy="73152"/>
          </a:xfrm>
          <a:prstGeom prst="rect">
            <a:avLst/>
          </a:prstGeom>
          <a:solidFill>
            <a:srgbClr val="D9EB12"/>
          </a:solidFill>
          <a:ln w="12700">
            <a:solidFill>
              <a:srgbClr val="D9EB12">
                <a:alpha val="0"/>
              </a:srgbClr>
            </a:solidFill>
            <a:prstDash val="solid"/>
          </a:ln>
        </p:spPr>
      </p:sp>
      <p:sp>
        <p:nvSpPr>
          <p:cNvPr id="10" name="Text 8"/>
          <p:cNvSpPr/>
          <p:nvPr/>
        </p:nvSpPr>
        <p:spPr>
          <a:xfrm>
            <a:off x="1353312" y="1901952"/>
            <a:ext cx="9098280" cy="4160520"/>
          </a:xfrm>
          <a:prstGeom prst="rect">
            <a:avLst/>
          </a:prstGeom>
          <a:noFill/>
          <a:ln/>
        </p:spPr>
        <p:txBody>
          <a:bodyPr wrap="square" lIns="1016" tIns="1016" rIns="1016" bIns="1016" rtlCol="0" anchor="ctr">
            <a:normAutofit/>
          </a:bodyPr>
          <a:lstStyle/>
          <a:p>
            <a:pPr indent="0" marL="0">
              <a:buNone/>
            </a:pPr>
            <a:r>
              <a:rPr lang="en-US" sz="2346" dirty="0">
                <a:solidFill>
                  <a:srgbClr val="272726"/>
                </a:solidFill>
                <a:latin typeface="Aptos Mono" pitchFamily="34" charset="0"/>
                <a:ea typeface="Aptos Mono" pitchFamily="34" charset="-122"/>
                <a:cs typeface="Aptos Mono" pitchFamily="34" charset="-120"/>
              </a:rPr>
              <a:t>Repeatable Read</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Ein SELECT Statement gibt immer die gleichen Daten / Snapshot zurück</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Default bei InnoDB (MySQL)</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Serializable</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Transaktionen werden so ausgeführt, als wären sie nacheinander</a:t>
            </a:r>
            <a:endParaRPr lang="en-US" sz="2346" dirty="0"/>
          </a:p>
          <a:p>
            <a:pPr indent="0" marL="0">
              <a:buNone/>
            </a:pPr>
            <a:r>
              <a:rPr lang="en-US" sz="2346" dirty="0">
                <a:solidFill>
                  <a:srgbClr val="272726"/>
                </a:solidFill>
                <a:latin typeface="Aptos Mono" pitchFamily="34" charset="0"/>
                <a:ea typeface="Aptos Mono" pitchFamily="34" charset="-122"/>
                <a:cs typeface="Aptos Mono" pitchFamily="34" charset="-120"/>
              </a:rPr>
              <a:t>Nicht ideal aus Concurrency Sicht</a:t>
            </a:r>
            <a:endParaRPr lang="en-US" sz="2346" dirty="0"/>
          </a:p>
        </p:txBody>
      </p:sp>
      <p:sp>
        <p:nvSpPr>
          <p:cNvPr id="11"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2"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621792"/>
            <a:ext cx="8458200" cy="621792"/>
          </a:xfrm>
          <a:prstGeom prst="rect">
            <a:avLst/>
          </a:prstGeom>
          <a:noFill/>
          <a:ln/>
        </p:spPr>
        <p:txBody>
          <a:bodyPr wrap="square" lIns="0" tIns="0" rIns="0" bIns="0" rtlCol="0" anchor="ctr">
            <a:normAutofit/>
          </a:bodyPr>
          <a:lstStyle/>
          <a:p>
            <a:pPr indent="0" marL="0">
              <a:buNone/>
            </a:pPr>
            <a:r>
              <a:rPr lang="en-US" sz="2900" b="1" dirty="0">
                <a:solidFill>
                  <a:srgbClr val="272726"/>
                </a:solidFill>
                <a:latin typeface="Aptos Display" pitchFamily="34" charset="0"/>
                <a:ea typeface="Aptos Display" pitchFamily="34" charset="-122"/>
                <a:cs typeface="Aptos Display" pitchFamily="34" charset="-120"/>
              </a:rPr>
              <a:t>Isolationslevel (generell)</a:t>
            </a:r>
            <a:endParaRPr lang="en-US" sz="2900" dirty="0"/>
          </a:p>
        </p:txBody>
      </p:sp>
      <p:sp>
        <p:nvSpPr>
          <p:cNvPr id="9" name="Shape 7"/>
          <p:cNvSpPr/>
          <p:nvPr/>
        </p:nvSpPr>
        <p:spPr>
          <a:xfrm>
            <a:off x="841248" y="1335024"/>
            <a:ext cx="1463040" cy="73152"/>
          </a:xfrm>
          <a:prstGeom prst="rect">
            <a:avLst/>
          </a:prstGeom>
          <a:solidFill>
            <a:srgbClr val="D9EB12"/>
          </a:solidFill>
          <a:ln w="12700">
            <a:solidFill>
              <a:srgbClr val="D9EB12">
                <a:alpha val="0"/>
              </a:srgbClr>
            </a:solidFill>
            <a:prstDash val="solid"/>
          </a:ln>
        </p:spPr>
      </p:sp>
      <p:sp>
        <p:nvSpPr>
          <p:cNvPr id="10" name="Shape 8"/>
          <p:cNvSpPr/>
          <p:nvPr/>
        </p:nvSpPr>
        <p:spPr>
          <a:xfrm>
            <a:off x="1252728" y="1545336"/>
            <a:ext cx="9701784" cy="4608576"/>
          </a:xfrm>
          <a:prstGeom prst="rect">
            <a:avLst/>
          </a:prstGeom>
          <a:solidFill>
            <a:srgbClr val="FFFFFF"/>
          </a:solidFill>
          <a:ln w="8890">
            <a:solidFill>
              <a:srgbClr val="E4ECEB"/>
            </a:solidFill>
            <a:prstDash val="solid"/>
          </a:ln>
        </p:spPr>
      </p:sp>
      <p:pic>
        <p:nvPicPr>
          <p:cNvPr id="11" name="Image 0" descr="/mnt/data/batch_work/converted/07_Transaktionen-DBMS/slide-17.png">    </p:cNvPr>
          <p:cNvPicPr>
            <a:picLocks noChangeAspect="1"/>
          </p:cNvPicPr>
          <p:nvPr/>
        </p:nvPicPr>
        <p:blipFill>
          <a:blip r:embed="rId1"/>
          <a:stretch>
            <a:fillRect/>
          </a:stretch>
        </p:blipFill>
        <p:spPr>
          <a:xfrm>
            <a:off x="2058406" y="1572768"/>
            <a:ext cx="8090428" cy="4553712"/>
          </a:xfrm>
          <a:prstGeom prst="rect">
            <a:avLst/>
          </a:prstGeom>
        </p:spPr>
      </p:pic>
      <p:sp>
        <p:nvSpPr>
          <p:cNvPr id="12"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3"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353312" y="621792"/>
            <a:ext cx="8458200" cy="621792"/>
          </a:xfrm>
          <a:prstGeom prst="rect">
            <a:avLst/>
          </a:prstGeom>
          <a:noFill/>
          <a:ln/>
        </p:spPr>
        <p:txBody>
          <a:bodyPr wrap="square" lIns="0" tIns="0" rIns="0" bIns="0" rtlCol="0" anchor="ctr">
            <a:normAutofit/>
          </a:bodyPr>
          <a:lstStyle/>
          <a:p>
            <a:pPr indent="0" marL="0">
              <a:buNone/>
            </a:pPr>
            <a:r>
              <a:rPr lang="en-US" sz="2900" b="1" dirty="0">
                <a:solidFill>
                  <a:srgbClr val="272726"/>
                </a:solidFill>
                <a:latin typeface="Aptos Display" pitchFamily="34" charset="0"/>
                <a:ea typeface="Aptos Display" pitchFamily="34" charset="-122"/>
                <a:cs typeface="Aptos Display" pitchFamily="34" charset="-120"/>
              </a:rPr>
              <a:t>Isolationslevel (InnoDB)</a:t>
            </a:r>
            <a:endParaRPr lang="en-US" sz="2900" dirty="0"/>
          </a:p>
        </p:txBody>
      </p:sp>
      <p:sp>
        <p:nvSpPr>
          <p:cNvPr id="9" name="Shape 7"/>
          <p:cNvSpPr/>
          <p:nvPr/>
        </p:nvSpPr>
        <p:spPr>
          <a:xfrm>
            <a:off x="841248" y="1335024"/>
            <a:ext cx="1463040" cy="73152"/>
          </a:xfrm>
          <a:prstGeom prst="rect">
            <a:avLst/>
          </a:prstGeom>
          <a:solidFill>
            <a:srgbClr val="D9EB12"/>
          </a:solidFill>
          <a:ln w="12700">
            <a:solidFill>
              <a:srgbClr val="D9EB12">
                <a:alpha val="0"/>
              </a:srgbClr>
            </a:solidFill>
            <a:prstDash val="solid"/>
          </a:ln>
        </p:spPr>
      </p:sp>
      <p:sp>
        <p:nvSpPr>
          <p:cNvPr id="10" name="Shape 8"/>
          <p:cNvSpPr/>
          <p:nvPr/>
        </p:nvSpPr>
        <p:spPr>
          <a:xfrm>
            <a:off x="1252728" y="1545336"/>
            <a:ext cx="9701784" cy="4608576"/>
          </a:xfrm>
          <a:prstGeom prst="rect">
            <a:avLst/>
          </a:prstGeom>
          <a:solidFill>
            <a:srgbClr val="FFFFFF"/>
          </a:solidFill>
          <a:ln w="8890">
            <a:solidFill>
              <a:srgbClr val="E4ECEB"/>
            </a:solidFill>
            <a:prstDash val="solid"/>
          </a:ln>
        </p:spPr>
      </p:sp>
      <p:pic>
        <p:nvPicPr>
          <p:cNvPr id="11" name="Image 0" descr="/mnt/data/batch_work/converted/07_Transaktionen-DBMS/slide-18.png">    </p:cNvPr>
          <p:cNvPicPr>
            <a:picLocks noChangeAspect="1"/>
          </p:cNvPicPr>
          <p:nvPr/>
        </p:nvPicPr>
        <p:blipFill>
          <a:blip r:embed="rId1"/>
          <a:stretch>
            <a:fillRect/>
          </a:stretch>
        </p:blipFill>
        <p:spPr>
          <a:xfrm>
            <a:off x="2058406" y="1572768"/>
            <a:ext cx="8090428" cy="4553712"/>
          </a:xfrm>
          <a:prstGeom prst="rect">
            <a:avLst/>
          </a:prstGeom>
        </p:spPr>
      </p:pic>
      <p:sp>
        <p:nvSpPr>
          <p:cNvPr id="12" name="Text 9"/>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3" name="Text 10"/>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30352" y="384048"/>
            <a:ext cx="146304" cy="749808"/>
          </a:xfrm>
          <a:prstGeom prst="rect">
            <a:avLst/>
          </a:prstGeom>
          <a:solidFill>
            <a:srgbClr val="29948C"/>
          </a:solidFill>
          <a:ln w="12700">
            <a:solidFill>
              <a:srgbClr val="29948C">
                <a:alpha val="0"/>
              </a:srgbClr>
            </a:solidFill>
            <a:prstDash val="solid"/>
          </a:ln>
        </p:spPr>
      </p:sp>
      <p:sp>
        <p:nvSpPr>
          <p:cNvPr id="3" name="Shape 1"/>
          <p:cNvSpPr/>
          <p:nvPr/>
        </p:nvSpPr>
        <p:spPr>
          <a:xfrm>
            <a:off x="768096" y="384048"/>
            <a:ext cx="146304" cy="438912"/>
          </a:xfrm>
          <a:prstGeom prst="rect">
            <a:avLst/>
          </a:prstGeom>
          <a:solidFill>
            <a:srgbClr val="D9EB12"/>
          </a:solidFill>
          <a:ln w="12700">
            <a:solidFill>
              <a:srgbClr val="D9EB12">
                <a:alpha val="0"/>
              </a:srgbClr>
            </a:solidFill>
            <a:prstDash val="solid"/>
          </a:ln>
        </p:spPr>
      </p:sp>
      <p:sp>
        <p:nvSpPr>
          <p:cNvPr id="4" name="Shape 2"/>
          <p:cNvSpPr/>
          <p:nvPr/>
        </p:nvSpPr>
        <p:spPr>
          <a:xfrm>
            <a:off x="1005840" y="384048"/>
            <a:ext cx="146304" cy="749808"/>
          </a:xfrm>
          <a:prstGeom prst="rect">
            <a:avLst/>
          </a:prstGeom>
          <a:solidFill>
            <a:srgbClr val="29948C"/>
          </a:solidFill>
          <a:ln w="12700">
            <a:solidFill>
              <a:srgbClr val="29948C">
                <a:alpha val="0"/>
              </a:srgbClr>
            </a:solidFill>
            <a:prstDash val="solid"/>
          </a:ln>
        </p:spPr>
      </p:sp>
      <p:sp>
        <p:nvSpPr>
          <p:cNvPr id="5" name="Shape 3"/>
          <p:cNvSpPr/>
          <p:nvPr/>
        </p:nvSpPr>
        <p:spPr>
          <a:xfrm>
            <a:off x="11082528" y="0"/>
            <a:ext cx="256032" cy="960120"/>
          </a:xfrm>
          <a:prstGeom prst="rect">
            <a:avLst/>
          </a:prstGeom>
          <a:solidFill>
            <a:srgbClr val="45D9C7">
              <a:alpha val="92000"/>
            </a:srgbClr>
          </a:solidFill>
          <a:ln w="12700">
            <a:solidFill>
              <a:srgbClr val="45D9C7">
                <a:alpha val="0"/>
              </a:srgbClr>
            </a:solidFill>
            <a:prstDash val="solid"/>
          </a:ln>
        </p:spPr>
      </p:sp>
      <p:sp>
        <p:nvSpPr>
          <p:cNvPr id="6" name="Shape 4"/>
          <p:cNvSpPr/>
          <p:nvPr/>
        </p:nvSpPr>
        <p:spPr>
          <a:xfrm>
            <a:off x="11475720" y="0"/>
            <a:ext cx="256032" cy="640080"/>
          </a:xfrm>
          <a:prstGeom prst="rect">
            <a:avLst/>
          </a:prstGeom>
          <a:solidFill>
            <a:srgbClr val="D9EB12"/>
          </a:solidFill>
          <a:ln w="12700">
            <a:solidFill>
              <a:srgbClr val="D9EB12">
                <a:alpha val="0"/>
              </a:srgbClr>
            </a:solidFill>
            <a:prstDash val="solid"/>
          </a:ln>
        </p:spPr>
      </p:sp>
      <p:sp>
        <p:nvSpPr>
          <p:cNvPr id="7" name="Shape 5"/>
          <p:cNvSpPr/>
          <p:nvPr/>
        </p:nvSpPr>
        <p:spPr>
          <a:xfrm>
            <a:off x="11503152" y="5897880"/>
            <a:ext cx="237744" cy="749808"/>
          </a:xfrm>
          <a:prstGeom prst="rect">
            <a:avLst/>
          </a:prstGeom>
          <a:solidFill>
            <a:srgbClr val="45D9C7">
              <a:alpha val="92000"/>
            </a:srgbClr>
          </a:solidFill>
          <a:ln w="12700">
            <a:solidFill>
              <a:srgbClr val="45D9C7">
                <a:alpha val="0"/>
              </a:srgbClr>
            </a:solidFill>
            <a:prstDash val="solid"/>
          </a:ln>
        </p:spPr>
      </p:sp>
      <p:sp>
        <p:nvSpPr>
          <p:cNvPr id="8" name="Text 6"/>
          <p:cNvSpPr/>
          <p:nvPr/>
        </p:nvSpPr>
        <p:spPr>
          <a:xfrm>
            <a:off x="1170432" y="2267712"/>
            <a:ext cx="5852160" cy="1024128"/>
          </a:xfrm>
          <a:prstGeom prst="rect">
            <a:avLst/>
          </a:prstGeom>
          <a:noFill/>
          <a:ln/>
        </p:spPr>
        <p:txBody>
          <a:bodyPr wrap="square" lIns="0" tIns="0" rIns="0" bIns="0" rtlCol="0" anchor="ctr"/>
          <a:lstStyle/>
          <a:p>
            <a:pPr indent="0" marL="0">
              <a:buNone/>
            </a:pPr>
            <a:r>
              <a:rPr lang="en-US" sz="6100" b="1" dirty="0">
                <a:solidFill>
                  <a:srgbClr val="272726"/>
                </a:solidFill>
                <a:latin typeface="Aptos Display" pitchFamily="34" charset="0"/>
                <a:ea typeface="Aptos Display" pitchFamily="34" charset="-122"/>
                <a:cs typeface="Aptos Display" pitchFamily="34" charset="-120"/>
              </a:rPr>
              <a:t>Fragen?</a:t>
            </a:r>
            <a:endParaRPr lang="en-US" sz="6100" dirty="0"/>
          </a:p>
        </p:txBody>
      </p:sp>
      <p:sp>
        <p:nvSpPr>
          <p:cNvPr id="9" name="Shape 7"/>
          <p:cNvSpPr/>
          <p:nvPr/>
        </p:nvSpPr>
        <p:spPr>
          <a:xfrm>
            <a:off x="1170432" y="3538728"/>
            <a:ext cx="1920240" cy="73152"/>
          </a:xfrm>
          <a:prstGeom prst="rect">
            <a:avLst/>
          </a:prstGeom>
          <a:solidFill>
            <a:srgbClr val="D9EB12"/>
          </a:solidFill>
          <a:ln w="12700">
            <a:solidFill>
              <a:srgbClr val="D9EB12">
                <a:alpha val="0"/>
              </a:srgbClr>
            </a:solidFill>
            <a:prstDash val="solid"/>
          </a:ln>
        </p:spPr>
      </p:sp>
      <p:sp>
        <p:nvSpPr>
          <p:cNvPr id="10" name="Text 8"/>
          <p:cNvSpPr/>
          <p:nvPr/>
        </p:nvSpPr>
        <p:spPr>
          <a:xfrm>
            <a:off x="530352" y="6446520"/>
            <a:ext cx="2194560" cy="164592"/>
          </a:xfrm>
          <a:prstGeom prst="rect">
            <a:avLst/>
          </a:prstGeom>
          <a:noFill/>
          <a:ln/>
        </p:spPr>
        <p:txBody>
          <a:bodyPr wrap="square" lIns="0" tIns="0" rIns="0" bIns="0" rtlCol="0" anchor="ctr"/>
          <a:lstStyle/>
          <a:p>
            <a:pPr indent="0" marL="0">
              <a:buNone/>
            </a:pPr>
            <a:r>
              <a:rPr lang="en-US" sz="650" b="1" dirty="0">
                <a:solidFill>
                  <a:srgbClr val="272726"/>
                </a:solidFill>
                <a:latin typeface="Aptos" pitchFamily="34" charset="0"/>
                <a:ea typeface="Aptos" pitchFamily="34" charset="-122"/>
                <a:cs typeface="Aptos" pitchFamily="34" charset="-120"/>
              </a:rPr>
              <a:t>ICT-LEARNFACTORY</a:t>
            </a:r>
            <a:endParaRPr lang="en-US" sz="650" dirty="0"/>
          </a:p>
        </p:txBody>
      </p:sp>
      <p:sp>
        <p:nvSpPr>
          <p:cNvPr id="11" name="Text 9"/>
          <p:cNvSpPr/>
          <p:nvPr/>
        </p:nvSpPr>
        <p:spPr>
          <a:xfrm>
            <a:off x="9144000" y="6446520"/>
            <a:ext cx="2286000" cy="164592"/>
          </a:xfrm>
          <a:prstGeom prst="rect">
            <a:avLst/>
          </a:prstGeom>
          <a:noFill/>
          <a:ln/>
        </p:spPr>
        <p:txBody>
          <a:bodyPr wrap="square" lIns="0" tIns="0" rIns="0" bIns="0" rtlCol="0" anchor="ctr"/>
          <a:lstStyle/>
          <a:p>
            <a:pPr algn="r" indent="0" marL="0">
              <a:buNone/>
            </a:pPr>
            <a:r>
              <a:rPr lang="en-US" sz="650" dirty="0">
                <a:solidFill>
                  <a:srgbClr val="272726"/>
                </a:solidFill>
                <a:latin typeface="Aptos" pitchFamily="34" charset="0"/>
                <a:ea typeface="Aptos" pitchFamily="34" charset="-122"/>
                <a:cs typeface="Aptos" pitchFamily="34" charset="-120"/>
              </a:rPr>
              <a:t>Transaktionen DBMS</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07_Transaktionen-DBMS</dc:title>
  <dc:subject>Redesigned ICT-LearnFactory module presentation</dc:subject>
  <dc:creator>OpenAI</dc:creator>
  <cp:lastModifiedBy>OpenAI</cp:lastModifiedBy>
  <cp:revision>1</cp:revision>
  <dcterms:created xsi:type="dcterms:W3CDTF">2026-08-16T09:28:04Z</dcterms:created>
  <dcterms:modified xsi:type="dcterms:W3CDTF">2026-08-16T09:28:04Z</dcterms:modified>
</cp:coreProperties>
</file>