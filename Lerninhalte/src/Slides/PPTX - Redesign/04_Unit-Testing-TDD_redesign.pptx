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Redesign follows the supplied ICT-LearnFactory Brand Guide (Aptos typography; Charcoal Flux #272726, Hyper Teal #45D9C7, Lumen Zest #D9EB12, Abyss Teal #29948C; geometric brand-mark pattern language).
- Slide content is preserved from the uploaded source presentation 04_Unit-Testing-TDD.odp.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Redesign follows the supplied ICT-LearnFactory Brand Guide (Aptos typography; Charcoal Flux #272726, Hyper Teal #45D9C7, Lumen Zest #D9EB12, Abyss Teal #29948C; geometric brand-mark pattern language).
- Slide content is preserved from the uploaded source presentation 04_Unit-Testing-TDD.odp.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Redesign follows the supplied ICT-LearnFactory Brand Guide (Aptos typography; Charcoal Flux #272726, Hyper Teal #45D9C7, Lumen Zest #D9EB12, Abyss Teal #29948C; geometric brand-mark pattern language).
- Slide content is preserved from the uploaded source presentation 04_Unit-Testing-TDD.odp.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Redesign follows the supplied ICT-LearnFactory Brand Guide (Aptos typography; Charcoal Flux #272726, Hyper Teal #45D9C7, Lumen Zest #D9EB12, Abyss Teal #29948C; geometric brand-mark pattern language).
- Slide content is preserved from the uploaded source presentation 04_Unit-Testing-TDD.odp.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Redesign follows the supplied ICT-LearnFactory Brand Guide (Aptos typography; Charcoal Flux #272726, Hyper Teal #45D9C7, Lumen Zest #D9EB12, Abyss Teal #29948C; geometric brand-mark pattern language).
- Slide content is preserved from the uploaded source presentation 04_Unit-Testing-TDD.odp.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Redesign follows the supplied ICT-LearnFactory Brand Guide (Aptos typography; Charcoal Flux #272726, Hyper Teal #45D9C7, Lumen Zest #D9EB12, Abyss Teal #29948C; geometric brand-mark pattern language).
- Slide content is preserved from the uploaded source presentation 04_Unit-Testing-TDD.odp.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Redesign follows the supplied ICT-LearnFactory Brand Guide (Aptos typography; Charcoal Flux #272726, Hyper Teal #45D9C7, Lumen Zest #D9EB12, Abyss Teal #29948C; geometric brand-mark pattern language).
- Slide content is preserved from the uploaded source presentation 04_Unit-Testing-TDD.odp.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Redesign follows the supplied ICT-LearnFactory Brand Guide (Aptos typography; Charcoal Flux #272726, Hyper Teal #45D9C7, Lumen Zest #D9EB12, Abyss Teal #29948C; geometric brand-mark pattern language).
- Slide content is preserved from the uploaded source presentation 04_Unit-Testing-TDD.odp.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Redesign follows the supplied ICT-LearnFactory Brand Guide (Aptos typography; Charcoal Flux #272726, Hyper Teal #45D9C7, Lumen Zest #D9EB12, Abyss Teal #29948C; geometric brand-mark pattern language).
- Slide content is preserved from the uploaded source presentation 04_Unit-Testing-TDD.odp.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Redesign follows the supplied ICT-LearnFactory Brand Guide (Aptos typography; Charcoal Flux #272726, Hyper Teal #45D9C7, Lumen Zest #D9EB12, Abyss Teal #29948C; geometric brand-mark pattern language).
- Slide content is preserved from the uploaded source presentation 04_Unit-Testing-TDD.odp.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Redesign follows the supplied ICT-LearnFactory Brand Guide (Aptos typography; Charcoal Flux #272726, Hyper Teal #45D9C7, Lumen Zest #D9EB12, Abyss Teal #29948C; geometric brand-mark pattern language).
- Slide content is preserved from the uploaded source presentation 04_Unit-Testing-TDD.odp.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Redesign follows the supplied ICT-LearnFactory Brand Guide (Aptos typography; Charcoal Flux #272726, Hyper Teal #45D9C7, Lumen Zest #D9EB12, Abyss Teal #29948C; geometric brand-mark pattern language).
- Slide content is preserved from the uploaded source presentation 04_Unit-Testing-TDD.odp.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72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352" y="384048"/>
            <a:ext cx="146304" cy="749808"/>
          </a:xfrm>
          <a:prstGeom prst="rect">
            <a:avLst/>
          </a:prstGeom>
          <a:solidFill>
            <a:srgbClr val="45D9C7"/>
          </a:solidFill>
          <a:ln w="12700">
            <a:solidFill>
              <a:srgbClr val="45D9C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68096" y="384048"/>
            <a:ext cx="146304" cy="438912"/>
          </a:xfrm>
          <a:prstGeom prst="rect">
            <a:avLst/>
          </a:prstGeom>
          <a:solidFill>
            <a:srgbClr val="D9EB12"/>
          </a:solidFill>
          <a:ln w="12700">
            <a:solidFill>
              <a:srgbClr val="D9EB12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05840" y="384048"/>
            <a:ext cx="146304" cy="749808"/>
          </a:xfrm>
          <a:prstGeom prst="rect">
            <a:avLst/>
          </a:prstGeom>
          <a:solidFill>
            <a:srgbClr val="45D9C7"/>
          </a:solidFill>
          <a:ln w="12700">
            <a:solidFill>
              <a:srgbClr val="45D9C7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082528" y="0"/>
            <a:ext cx="256032" cy="960120"/>
          </a:xfrm>
          <a:prstGeom prst="rect">
            <a:avLst/>
          </a:prstGeom>
          <a:solidFill>
            <a:srgbClr val="45D9C7"/>
          </a:solidFill>
          <a:ln w="12700">
            <a:solidFill>
              <a:srgbClr val="45D9C7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475720" y="0"/>
            <a:ext cx="256032" cy="640080"/>
          </a:xfrm>
          <a:prstGeom prst="rect">
            <a:avLst/>
          </a:prstGeom>
          <a:solidFill>
            <a:srgbClr val="D9EB12"/>
          </a:solidFill>
          <a:ln w="12700">
            <a:solidFill>
              <a:srgbClr val="D9EB12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503152" y="5897880"/>
            <a:ext cx="237744" cy="749808"/>
          </a:xfrm>
          <a:prstGeom prst="rect">
            <a:avLst/>
          </a:prstGeom>
          <a:solidFill>
            <a:srgbClr val="29948C"/>
          </a:solidFill>
          <a:ln w="12700">
            <a:solidFill>
              <a:srgbClr val="29948C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04672" y="3456432"/>
            <a:ext cx="813816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Multi-User-Applikationen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objektorientiert realisieren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804672" y="4809744"/>
            <a:ext cx="1828800" cy="73152"/>
          </a:xfrm>
          <a:prstGeom prst="rect">
            <a:avLst/>
          </a:prstGeom>
          <a:solidFill>
            <a:srgbClr val="D9EB12"/>
          </a:solidFill>
          <a:ln w="12700">
            <a:solidFill>
              <a:srgbClr val="D9EB12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" y="5157216"/>
            <a:ext cx="6035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Unit Testing und TDD</a:t>
            </a:r>
            <a:endParaRPr lang="en-US" sz="2900" dirty="0"/>
          </a:p>
        </p:txBody>
      </p:sp>
      <p:sp>
        <p:nvSpPr>
          <p:cNvPr id="11" name="Text 9"/>
          <p:cNvSpPr/>
          <p:nvPr/>
        </p:nvSpPr>
        <p:spPr>
          <a:xfrm>
            <a:off x="9646920" y="6144768"/>
            <a:ext cx="960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08/16/26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353312" y="56692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ICT-LEARNFACTORY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352" y="384048"/>
            <a:ext cx="146304" cy="749808"/>
          </a:xfrm>
          <a:prstGeom prst="rect">
            <a:avLst/>
          </a:prstGeom>
          <a:solidFill>
            <a:srgbClr val="29948C"/>
          </a:solidFill>
          <a:ln w="12700">
            <a:solidFill>
              <a:srgbClr val="29948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68096" y="384048"/>
            <a:ext cx="146304" cy="438912"/>
          </a:xfrm>
          <a:prstGeom prst="rect">
            <a:avLst/>
          </a:prstGeom>
          <a:solidFill>
            <a:srgbClr val="D9EB12"/>
          </a:solidFill>
          <a:ln w="12700">
            <a:solidFill>
              <a:srgbClr val="D9EB12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05840" y="384048"/>
            <a:ext cx="146304" cy="749808"/>
          </a:xfrm>
          <a:prstGeom prst="rect">
            <a:avLst/>
          </a:prstGeom>
          <a:solidFill>
            <a:srgbClr val="29948C"/>
          </a:solidFill>
          <a:ln w="12700">
            <a:solidFill>
              <a:srgbClr val="29948C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082528" y="0"/>
            <a:ext cx="256032" cy="960120"/>
          </a:xfrm>
          <a:prstGeom prst="rect">
            <a:avLst/>
          </a:prstGeom>
          <a:solidFill>
            <a:srgbClr val="45D9C7">
              <a:alpha val="92000"/>
            </a:srgbClr>
          </a:solidFill>
          <a:ln w="12700">
            <a:solidFill>
              <a:srgbClr val="45D9C7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475720" y="0"/>
            <a:ext cx="256032" cy="640080"/>
          </a:xfrm>
          <a:prstGeom prst="rect">
            <a:avLst/>
          </a:prstGeom>
          <a:solidFill>
            <a:srgbClr val="D9EB12"/>
          </a:solidFill>
          <a:ln w="12700">
            <a:solidFill>
              <a:srgbClr val="D9EB12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503152" y="5897880"/>
            <a:ext cx="237744" cy="749808"/>
          </a:xfrm>
          <a:prstGeom prst="rect">
            <a:avLst/>
          </a:prstGeom>
          <a:solidFill>
            <a:srgbClr val="45D9C7">
              <a:alpha val="92000"/>
            </a:srgbClr>
          </a:solidFill>
          <a:ln w="12700">
            <a:solidFill>
              <a:srgbClr val="45D9C7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53312" y="713232"/>
            <a:ext cx="836676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2727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Handlungsnotwendige Kenntnisse</a:t>
            </a:r>
            <a:endParaRPr lang="en-US" sz="3100" dirty="0"/>
          </a:p>
        </p:txBody>
      </p:sp>
      <p:sp>
        <p:nvSpPr>
          <p:cNvPr id="9" name="Shape 7"/>
          <p:cNvSpPr/>
          <p:nvPr/>
        </p:nvSpPr>
        <p:spPr>
          <a:xfrm>
            <a:off x="1024128" y="1581912"/>
            <a:ext cx="1645920" cy="73152"/>
          </a:xfrm>
          <a:prstGeom prst="rect">
            <a:avLst/>
          </a:prstGeom>
          <a:solidFill>
            <a:srgbClr val="D9EB12"/>
          </a:solidFill>
          <a:ln w="12700">
            <a:solidFill>
              <a:srgbClr val="D9EB12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53312" y="1901952"/>
            <a:ext cx="9098280" cy="41605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2346" dirty="0">
                <a:solidFill>
                  <a:srgbClr val="2727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4.1 Kennt relevante Aspekte, welche bei der Testspezifikation einer Muli-User-Applikation zu berücksichtigen sind.</a:t>
            </a:r>
            <a:endParaRPr lang="en-US" sz="2346" dirty="0"/>
          </a:p>
          <a:p>
            <a:pPr indent="0" marL="0">
              <a:buNone/>
            </a:pPr>
            <a:r>
              <a:rPr lang="en-US" sz="2346" dirty="0">
                <a:solidFill>
                  <a:srgbClr val="2727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4.2 Kennt ein Vorgehen, um nicht-funktionale Anforderungen zu testen.</a:t>
            </a:r>
            <a:endParaRPr lang="en-US" sz="2346" dirty="0"/>
          </a:p>
        </p:txBody>
      </p:sp>
      <p:sp>
        <p:nvSpPr>
          <p:cNvPr id="11" name="Text 9"/>
          <p:cNvSpPr/>
          <p:nvPr/>
        </p:nvSpPr>
        <p:spPr>
          <a:xfrm>
            <a:off x="530352" y="6446520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2727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ICT-LEARNFACTORY</a:t>
            </a:r>
            <a:endParaRPr lang="en-US" sz="650" dirty="0"/>
          </a:p>
        </p:txBody>
      </p:sp>
      <p:sp>
        <p:nvSpPr>
          <p:cNvPr id="12" name="Text 10"/>
          <p:cNvSpPr/>
          <p:nvPr/>
        </p:nvSpPr>
        <p:spPr>
          <a:xfrm>
            <a:off x="9144000" y="6446520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2727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Unit Testing TDD</a:t>
            </a:r>
            <a:endParaRPr lang="en-US" sz="6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352" y="384048"/>
            <a:ext cx="146304" cy="749808"/>
          </a:xfrm>
          <a:prstGeom prst="rect">
            <a:avLst/>
          </a:prstGeom>
          <a:solidFill>
            <a:srgbClr val="29948C"/>
          </a:solidFill>
          <a:ln w="12700">
            <a:solidFill>
              <a:srgbClr val="29948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68096" y="384048"/>
            <a:ext cx="146304" cy="438912"/>
          </a:xfrm>
          <a:prstGeom prst="rect">
            <a:avLst/>
          </a:prstGeom>
          <a:solidFill>
            <a:srgbClr val="D9EB12"/>
          </a:solidFill>
          <a:ln w="12700">
            <a:solidFill>
              <a:srgbClr val="D9EB12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05840" y="384048"/>
            <a:ext cx="146304" cy="749808"/>
          </a:xfrm>
          <a:prstGeom prst="rect">
            <a:avLst/>
          </a:prstGeom>
          <a:solidFill>
            <a:srgbClr val="29948C"/>
          </a:solidFill>
          <a:ln w="12700">
            <a:solidFill>
              <a:srgbClr val="29948C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082528" y="0"/>
            <a:ext cx="256032" cy="960120"/>
          </a:xfrm>
          <a:prstGeom prst="rect">
            <a:avLst/>
          </a:prstGeom>
          <a:solidFill>
            <a:srgbClr val="45D9C7">
              <a:alpha val="92000"/>
            </a:srgbClr>
          </a:solidFill>
          <a:ln w="12700">
            <a:solidFill>
              <a:srgbClr val="45D9C7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475720" y="0"/>
            <a:ext cx="256032" cy="640080"/>
          </a:xfrm>
          <a:prstGeom prst="rect">
            <a:avLst/>
          </a:prstGeom>
          <a:solidFill>
            <a:srgbClr val="D9EB12"/>
          </a:solidFill>
          <a:ln w="12700">
            <a:solidFill>
              <a:srgbClr val="D9EB12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503152" y="5897880"/>
            <a:ext cx="237744" cy="749808"/>
          </a:xfrm>
          <a:prstGeom prst="rect">
            <a:avLst/>
          </a:prstGeom>
          <a:solidFill>
            <a:srgbClr val="45D9C7">
              <a:alpha val="92000"/>
            </a:srgbClr>
          </a:solidFill>
          <a:ln w="12700">
            <a:solidFill>
              <a:srgbClr val="45D9C7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53312" y="713232"/>
            <a:ext cx="836676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2727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Ziele</a:t>
            </a:r>
            <a:endParaRPr lang="en-US" sz="3100" dirty="0"/>
          </a:p>
        </p:txBody>
      </p:sp>
      <p:sp>
        <p:nvSpPr>
          <p:cNvPr id="9" name="Shape 7"/>
          <p:cNvSpPr/>
          <p:nvPr/>
        </p:nvSpPr>
        <p:spPr>
          <a:xfrm>
            <a:off x="1024128" y="1581912"/>
            <a:ext cx="1645920" cy="73152"/>
          </a:xfrm>
          <a:prstGeom prst="rect">
            <a:avLst/>
          </a:prstGeom>
          <a:solidFill>
            <a:srgbClr val="D9EB12"/>
          </a:solidFill>
          <a:ln w="12700">
            <a:solidFill>
              <a:srgbClr val="D9EB12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53312" y="1901952"/>
            <a:ext cx="9098280" cy="41605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2346" dirty="0">
                <a:solidFill>
                  <a:srgbClr val="2727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Du erinnerst dich an die verschiedenen Testarten.</a:t>
            </a:r>
            <a:endParaRPr lang="en-US" sz="2346" dirty="0"/>
          </a:p>
          <a:p>
            <a:pPr indent="0" marL="0">
              <a:buNone/>
            </a:pPr>
            <a:r>
              <a:rPr lang="en-US" sz="2346" dirty="0">
                <a:solidFill>
                  <a:srgbClr val="2727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Du erinnerst dich an die Prinzipien des Unit-Testing.</a:t>
            </a:r>
            <a:endParaRPr lang="en-US" sz="2346" dirty="0"/>
          </a:p>
          <a:p>
            <a:pPr indent="0" marL="0">
              <a:buNone/>
            </a:pPr>
            <a:r>
              <a:rPr lang="en-US" sz="2346" dirty="0">
                <a:solidFill>
                  <a:srgbClr val="2727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Du weisst, was Test Driven Development (TDD) ist.</a:t>
            </a:r>
            <a:endParaRPr lang="en-US" sz="2346" dirty="0"/>
          </a:p>
        </p:txBody>
      </p:sp>
      <p:sp>
        <p:nvSpPr>
          <p:cNvPr id="11" name="Text 9"/>
          <p:cNvSpPr/>
          <p:nvPr/>
        </p:nvSpPr>
        <p:spPr>
          <a:xfrm>
            <a:off x="530352" y="6446520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2727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ICT-LEARNFACTORY</a:t>
            </a:r>
            <a:endParaRPr lang="en-US" sz="650" dirty="0"/>
          </a:p>
        </p:txBody>
      </p:sp>
      <p:sp>
        <p:nvSpPr>
          <p:cNvPr id="12" name="Text 10"/>
          <p:cNvSpPr/>
          <p:nvPr/>
        </p:nvSpPr>
        <p:spPr>
          <a:xfrm>
            <a:off x="9144000" y="6446520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2727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Unit Testing TDD</a:t>
            </a:r>
            <a:endParaRPr lang="en-US" sz="6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352" y="384048"/>
            <a:ext cx="146304" cy="749808"/>
          </a:xfrm>
          <a:prstGeom prst="rect">
            <a:avLst/>
          </a:prstGeom>
          <a:solidFill>
            <a:srgbClr val="29948C"/>
          </a:solidFill>
          <a:ln w="12700">
            <a:solidFill>
              <a:srgbClr val="29948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68096" y="384048"/>
            <a:ext cx="146304" cy="438912"/>
          </a:xfrm>
          <a:prstGeom prst="rect">
            <a:avLst/>
          </a:prstGeom>
          <a:solidFill>
            <a:srgbClr val="D9EB12"/>
          </a:solidFill>
          <a:ln w="12700">
            <a:solidFill>
              <a:srgbClr val="D9EB12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05840" y="384048"/>
            <a:ext cx="146304" cy="749808"/>
          </a:xfrm>
          <a:prstGeom prst="rect">
            <a:avLst/>
          </a:prstGeom>
          <a:solidFill>
            <a:srgbClr val="29948C"/>
          </a:solidFill>
          <a:ln w="12700">
            <a:solidFill>
              <a:srgbClr val="29948C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082528" y="0"/>
            <a:ext cx="256032" cy="960120"/>
          </a:xfrm>
          <a:prstGeom prst="rect">
            <a:avLst/>
          </a:prstGeom>
          <a:solidFill>
            <a:srgbClr val="45D9C7">
              <a:alpha val="92000"/>
            </a:srgbClr>
          </a:solidFill>
          <a:ln w="12700">
            <a:solidFill>
              <a:srgbClr val="45D9C7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475720" y="0"/>
            <a:ext cx="256032" cy="640080"/>
          </a:xfrm>
          <a:prstGeom prst="rect">
            <a:avLst/>
          </a:prstGeom>
          <a:solidFill>
            <a:srgbClr val="D9EB12"/>
          </a:solidFill>
          <a:ln w="12700">
            <a:solidFill>
              <a:srgbClr val="D9EB12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503152" y="5897880"/>
            <a:ext cx="237744" cy="749808"/>
          </a:xfrm>
          <a:prstGeom prst="rect">
            <a:avLst/>
          </a:prstGeom>
          <a:solidFill>
            <a:srgbClr val="45D9C7">
              <a:alpha val="92000"/>
            </a:srgbClr>
          </a:solidFill>
          <a:ln w="12700">
            <a:solidFill>
              <a:srgbClr val="45D9C7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53312" y="713232"/>
            <a:ext cx="836676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2727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Testing</a:t>
            </a:r>
            <a:endParaRPr lang="en-US" sz="3100" dirty="0"/>
          </a:p>
          <a:p>
            <a:pPr indent="0" marL="0">
              <a:buNone/>
            </a:pPr>
            <a:r>
              <a:rPr lang="en-US" sz="3100" b="1" dirty="0">
                <a:solidFill>
                  <a:srgbClr val="2727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Refresher</a:t>
            </a:r>
            <a:endParaRPr lang="en-US" sz="3100" dirty="0"/>
          </a:p>
        </p:txBody>
      </p:sp>
      <p:sp>
        <p:nvSpPr>
          <p:cNvPr id="9" name="Shape 7"/>
          <p:cNvSpPr/>
          <p:nvPr/>
        </p:nvSpPr>
        <p:spPr>
          <a:xfrm>
            <a:off x="1024128" y="1581912"/>
            <a:ext cx="1645920" cy="73152"/>
          </a:xfrm>
          <a:prstGeom prst="rect">
            <a:avLst/>
          </a:prstGeom>
          <a:solidFill>
            <a:srgbClr val="D9EB12"/>
          </a:solidFill>
          <a:ln w="12700">
            <a:solidFill>
              <a:srgbClr val="D9EB12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53312" y="1901952"/>
            <a:ext cx="9098280" cy="41605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2338" dirty="0">
                <a:solidFill>
                  <a:srgbClr val="2727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 deine Webapplikation wurden Anforderungen gestellt …  </a:t>
            </a:r>
            <a:endParaRPr lang="en-US" sz="2338" dirty="0"/>
          </a:p>
          <a:p>
            <a:pPr indent="0" marL="0">
              <a:buNone/>
            </a:pPr>
            <a:r>
              <a:rPr lang="en-US" sz="2338" dirty="0">
                <a:solidFill>
                  <a:srgbClr val="2727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Funktionalitäten</a:t>
            </a:r>
            <a:endParaRPr lang="en-US" sz="2338" dirty="0"/>
          </a:p>
          <a:p>
            <a:pPr indent="0" marL="0">
              <a:buNone/>
            </a:pPr>
            <a:r>
              <a:rPr lang="en-US" sz="2338" dirty="0">
                <a:solidFill>
                  <a:srgbClr val="2727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Geschwindigkeit</a:t>
            </a:r>
            <a:endParaRPr lang="en-US" sz="2338" dirty="0"/>
          </a:p>
          <a:p>
            <a:pPr indent="0" marL="0">
              <a:buNone/>
            </a:pPr>
            <a:r>
              <a:rPr lang="en-US" sz="2338" dirty="0">
                <a:solidFill>
                  <a:srgbClr val="2727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Benutzerfreundlichkeit</a:t>
            </a:r>
            <a:endParaRPr lang="en-US" sz="2338" dirty="0"/>
          </a:p>
          <a:p>
            <a:pPr indent="0" marL="0">
              <a:buNone/>
            </a:pPr>
            <a:r>
              <a:rPr lang="en-US" sz="2338" dirty="0">
                <a:solidFill>
                  <a:srgbClr val="2727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Sicherheit …  </a:t>
            </a:r>
            <a:endParaRPr lang="en-US" sz="2338" dirty="0"/>
          </a:p>
          <a:p>
            <a:pPr indent="0" marL="0">
              <a:buNone/>
            </a:pPr>
            <a:r>
              <a:rPr lang="en-US" sz="2338" dirty="0">
                <a:solidFill>
                  <a:srgbClr val="2727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… diese Anforderungen müssen geprüft werden!</a:t>
            </a:r>
            <a:endParaRPr lang="en-US" sz="2338" dirty="0"/>
          </a:p>
          <a:p>
            <a:pPr indent="0" marL="0">
              <a:buNone/>
            </a:pPr>
            <a:r>
              <a:rPr lang="en-US" sz="2338" dirty="0">
                <a:solidFill>
                  <a:srgbClr val="2727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Je später Fehler entdeckt werden, desto aufwändiger (teurer) ist ihre Behebung</a:t>
            </a:r>
            <a:endParaRPr lang="en-US" sz="2338" dirty="0"/>
          </a:p>
          <a:p>
            <a:pPr indent="0" marL="0">
              <a:buNone/>
            </a:pPr>
            <a:r>
              <a:rPr lang="en-US" sz="2338" dirty="0">
                <a:solidFill>
                  <a:srgbClr val="2727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Tests die häufig wiederholt werden, sollten automatisiert werden</a:t>
            </a:r>
            <a:endParaRPr lang="en-US" sz="2338" dirty="0"/>
          </a:p>
        </p:txBody>
      </p:sp>
      <p:sp>
        <p:nvSpPr>
          <p:cNvPr id="11" name="Text 9"/>
          <p:cNvSpPr/>
          <p:nvPr/>
        </p:nvSpPr>
        <p:spPr>
          <a:xfrm>
            <a:off x="530352" y="6446520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2727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ICT-LEARNFACTORY</a:t>
            </a:r>
            <a:endParaRPr lang="en-US" sz="650" dirty="0"/>
          </a:p>
        </p:txBody>
      </p:sp>
      <p:sp>
        <p:nvSpPr>
          <p:cNvPr id="12" name="Text 10"/>
          <p:cNvSpPr/>
          <p:nvPr/>
        </p:nvSpPr>
        <p:spPr>
          <a:xfrm>
            <a:off x="9144000" y="6446520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2727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Unit Testing TDD</a:t>
            </a:r>
            <a:endParaRPr lang="en-US" sz="6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352" y="384048"/>
            <a:ext cx="146304" cy="749808"/>
          </a:xfrm>
          <a:prstGeom prst="rect">
            <a:avLst/>
          </a:prstGeom>
          <a:solidFill>
            <a:srgbClr val="29948C"/>
          </a:solidFill>
          <a:ln w="12700">
            <a:solidFill>
              <a:srgbClr val="29948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68096" y="384048"/>
            <a:ext cx="146304" cy="438912"/>
          </a:xfrm>
          <a:prstGeom prst="rect">
            <a:avLst/>
          </a:prstGeom>
          <a:solidFill>
            <a:srgbClr val="D9EB12"/>
          </a:solidFill>
          <a:ln w="12700">
            <a:solidFill>
              <a:srgbClr val="D9EB12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05840" y="384048"/>
            <a:ext cx="146304" cy="749808"/>
          </a:xfrm>
          <a:prstGeom prst="rect">
            <a:avLst/>
          </a:prstGeom>
          <a:solidFill>
            <a:srgbClr val="29948C"/>
          </a:solidFill>
          <a:ln w="12700">
            <a:solidFill>
              <a:srgbClr val="29948C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082528" y="0"/>
            <a:ext cx="256032" cy="960120"/>
          </a:xfrm>
          <a:prstGeom prst="rect">
            <a:avLst/>
          </a:prstGeom>
          <a:solidFill>
            <a:srgbClr val="45D9C7">
              <a:alpha val="92000"/>
            </a:srgbClr>
          </a:solidFill>
          <a:ln w="12700">
            <a:solidFill>
              <a:srgbClr val="45D9C7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475720" y="0"/>
            <a:ext cx="256032" cy="640080"/>
          </a:xfrm>
          <a:prstGeom prst="rect">
            <a:avLst/>
          </a:prstGeom>
          <a:solidFill>
            <a:srgbClr val="D9EB12"/>
          </a:solidFill>
          <a:ln w="12700">
            <a:solidFill>
              <a:srgbClr val="D9EB12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503152" y="5897880"/>
            <a:ext cx="237744" cy="749808"/>
          </a:xfrm>
          <a:prstGeom prst="rect">
            <a:avLst/>
          </a:prstGeom>
          <a:solidFill>
            <a:srgbClr val="45D9C7">
              <a:alpha val="92000"/>
            </a:srgbClr>
          </a:solidFill>
          <a:ln w="12700">
            <a:solidFill>
              <a:srgbClr val="45D9C7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53312" y="621792"/>
            <a:ext cx="8458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2727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Wann teste ich?</a:t>
            </a:r>
            <a:endParaRPr lang="en-US" sz="2900" dirty="0"/>
          </a:p>
          <a:p>
            <a:pPr indent="0" marL="0">
              <a:buNone/>
            </a:pPr>
            <a:r>
              <a:rPr lang="en-US" sz="2900" b="1" dirty="0">
                <a:solidFill>
                  <a:srgbClr val="2727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So früh wie möglich</a:t>
            </a:r>
            <a:endParaRPr lang="en-US" sz="2900" dirty="0"/>
          </a:p>
        </p:txBody>
      </p:sp>
      <p:sp>
        <p:nvSpPr>
          <p:cNvPr id="9" name="Shape 7"/>
          <p:cNvSpPr/>
          <p:nvPr/>
        </p:nvSpPr>
        <p:spPr>
          <a:xfrm>
            <a:off x="841248" y="1335024"/>
            <a:ext cx="1463040" cy="73152"/>
          </a:xfrm>
          <a:prstGeom prst="rect">
            <a:avLst/>
          </a:prstGeom>
          <a:solidFill>
            <a:srgbClr val="D9EB12"/>
          </a:solidFill>
          <a:ln w="12700">
            <a:solidFill>
              <a:srgbClr val="D9EB12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252728" y="1545336"/>
            <a:ext cx="9701784" cy="4608576"/>
          </a:xfrm>
          <a:prstGeom prst="rect">
            <a:avLst/>
          </a:prstGeom>
          <a:solidFill>
            <a:srgbClr val="FFFFFF"/>
          </a:solidFill>
          <a:ln w="8890">
            <a:solidFill>
              <a:srgbClr val="E4ECEB"/>
            </a:solidFill>
            <a:prstDash val="solid"/>
          </a:ln>
        </p:spPr>
      </p:sp>
      <p:pic>
        <p:nvPicPr>
          <p:cNvPr id="11" name="Image 0" descr="/mnt/data/batch_work/converted/04_Unit-Testing-TDD/slide-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58406" y="1572768"/>
            <a:ext cx="8090428" cy="4553712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530352" y="6446520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2727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ICT-LEARNFACTORY</a:t>
            </a:r>
            <a:endParaRPr lang="en-US" sz="650" dirty="0"/>
          </a:p>
        </p:txBody>
      </p:sp>
      <p:sp>
        <p:nvSpPr>
          <p:cNvPr id="13" name="Text 10"/>
          <p:cNvSpPr/>
          <p:nvPr/>
        </p:nvSpPr>
        <p:spPr>
          <a:xfrm>
            <a:off x="9144000" y="6446520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2727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Unit Testing TDD</a:t>
            </a:r>
            <a:endParaRPr lang="en-US" sz="6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352" y="384048"/>
            <a:ext cx="146304" cy="749808"/>
          </a:xfrm>
          <a:prstGeom prst="rect">
            <a:avLst/>
          </a:prstGeom>
          <a:solidFill>
            <a:srgbClr val="29948C"/>
          </a:solidFill>
          <a:ln w="12700">
            <a:solidFill>
              <a:srgbClr val="29948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68096" y="384048"/>
            <a:ext cx="146304" cy="438912"/>
          </a:xfrm>
          <a:prstGeom prst="rect">
            <a:avLst/>
          </a:prstGeom>
          <a:solidFill>
            <a:srgbClr val="D9EB12"/>
          </a:solidFill>
          <a:ln w="12700">
            <a:solidFill>
              <a:srgbClr val="D9EB12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05840" y="384048"/>
            <a:ext cx="146304" cy="749808"/>
          </a:xfrm>
          <a:prstGeom prst="rect">
            <a:avLst/>
          </a:prstGeom>
          <a:solidFill>
            <a:srgbClr val="29948C"/>
          </a:solidFill>
          <a:ln w="12700">
            <a:solidFill>
              <a:srgbClr val="29948C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082528" y="0"/>
            <a:ext cx="256032" cy="960120"/>
          </a:xfrm>
          <a:prstGeom prst="rect">
            <a:avLst/>
          </a:prstGeom>
          <a:solidFill>
            <a:srgbClr val="45D9C7">
              <a:alpha val="92000"/>
            </a:srgbClr>
          </a:solidFill>
          <a:ln w="12700">
            <a:solidFill>
              <a:srgbClr val="45D9C7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475720" y="0"/>
            <a:ext cx="256032" cy="640080"/>
          </a:xfrm>
          <a:prstGeom prst="rect">
            <a:avLst/>
          </a:prstGeom>
          <a:solidFill>
            <a:srgbClr val="D9EB12"/>
          </a:solidFill>
          <a:ln w="12700">
            <a:solidFill>
              <a:srgbClr val="D9EB12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503152" y="5897880"/>
            <a:ext cx="237744" cy="749808"/>
          </a:xfrm>
          <a:prstGeom prst="rect">
            <a:avLst/>
          </a:prstGeom>
          <a:solidFill>
            <a:srgbClr val="45D9C7">
              <a:alpha val="92000"/>
            </a:srgbClr>
          </a:solidFill>
          <a:ln w="12700">
            <a:solidFill>
              <a:srgbClr val="45D9C7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53312" y="713232"/>
            <a:ext cx="3246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2727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Testarten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2727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Refresher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841248" y="1664208"/>
            <a:ext cx="1417320" cy="73152"/>
          </a:xfrm>
          <a:prstGeom prst="rect">
            <a:avLst/>
          </a:prstGeom>
          <a:solidFill>
            <a:srgbClr val="D9EB12"/>
          </a:solidFill>
          <a:ln w="12700">
            <a:solidFill>
              <a:srgbClr val="D9EB12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53312" y="1938528"/>
            <a:ext cx="3246120" cy="3886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947" dirty="0">
                <a:solidFill>
                  <a:srgbClr val="2727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Unit-Tests sind langfristig Kosteneffizient</a:t>
            </a:r>
            <a:endParaRPr lang="en-US" sz="1947" dirty="0"/>
          </a:p>
          <a:p>
            <a:pPr indent="0" marL="0">
              <a:buNone/>
            </a:pPr>
            <a:r>
              <a:rPr lang="en-US" sz="1947" dirty="0">
                <a:solidFill>
                  <a:srgbClr val="2727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Integration Tests kombinieren mehrere Units mit Abhängigkeiten</a:t>
            </a:r>
            <a:endParaRPr lang="en-US" sz="1947" dirty="0"/>
          </a:p>
          <a:p>
            <a:pPr indent="0" marL="0">
              <a:buNone/>
            </a:pPr>
            <a:r>
              <a:rPr lang="en-US" sz="1947" dirty="0">
                <a:solidFill>
                  <a:srgbClr val="2727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Manuelle Tests gelten als Abnahmetest für den Kunden</a:t>
            </a:r>
            <a:endParaRPr lang="en-US" sz="1947" dirty="0"/>
          </a:p>
        </p:txBody>
      </p:sp>
      <p:sp>
        <p:nvSpPr>
          <p:cNvPr id="11" name="Shape 9"/>
          <p:cNvSpPr/>
          <p:nvPr/>
        </p:nvSpPr>
        <p:spPr>
          <a:xfrm>
            <a:off x="5047488" y="1389888"/>
            <a:ext cx="6409944" cy="4855464"/>
          </a:xfrm>
          <a:prstGeom prst="rect">
            <a:avLst/>
          </a:prstGeom>
          <a:solidFill>
            <a:srgbClr val="FFFFFF"/>
          </a:solidFill>
          <a:ln w="8890">
            <a:solidFill>
              <a:srgbClr val="E4ECEB"/>
            </a:solidFill>
            <a:prstDash val="solid"/>
          </a:ln>
        </p:spPr>
      </p:sp>
      <p:pic>
        <p:nvPicPr>
          <p:cNvPr id="12" name="Image 0" descr="/mnt/data/batch_work/converted/04_Unit-Testing-TDD/slide-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74920" y="2029136"/>
            <a:ext cx="6355080" cy="3576968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530352" y="6446520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2727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ICT-LEARNFACTORY</a:t>
            </a:r>
            <a:endParaRPr lang="en-US" sz="650" dirty="0"/>
          </a:p>
        </p:txBody>
      </p:sp>
      <p:sp>
        <p:nvSpPr>
          <p:cNvPr id="14" name="Text 11"/>
          <p:cNvSpPr/>
          <p:nvPr/>
        </p:nvSpPr>
        <p:spPr>
          <a:xfrm>
            <a:off x="9144000" y="6446520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2727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Unit Testing TDD</a:t>
            </a:r>
            <a:endParaRPr lang="en-US" sz="6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352" y="384048"/>
            <a:ext cx="146304" cy="749808"/>
          </a:xfrm>
          <a:prstGeom prst="rect">
            <a:avLst/>
          </a:prstGeom>
          <a:solidFill>
            <a:srgbClr val="29948C"/>
          </a:solidFill>
          <a:ln w="12700">
            <a:solidFill>
              <a:srgbClr val="29948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68096" y="384048"/>
            <a:ext cx="146304" cy="438912"/>
          </a:xfrm>
          <a:prstGeom prst="rect">
            <a:avLst/>
          </a:prstGeom>
          <a:solidFill>
            <a:srgbClr val="D9EB12"/>
          </a:solidFill>
          <a:ln w="12700">
            <a:solidFill>
              <a:srgbClr val="D9EB12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05840" y="384048"/>
            <a:ext cx="146304" cy="749808"/>
          </a:xfrm>
          <a:prstGeom prst="rect">
            <a:avLst/>
          </a:prstGeom>
          <a:solidFill>
            <a:srgbClr val="29948C"/>
          </a:solidFill>
          <a:ln w="12700">
            <a:solidFill>
              <a:srgbClr val="29948C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082528" y="0"/>
            <a:ext cx="256032" cy="960120"/>
          </a:xfrm>
          <a:prstGeom prst="rect">
            <a:avLst/>
          </a:prstGeom>
          <a:solidFill>
            <a:srgbClr val="45D9C7">
              <a:alpha val="92000"/>
            </a:srgbClr>
          </a:solidFill>
          <a:ln w="12700">
            <a:solidFill>
              <a:srgbClr val="45D9C7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475720" y="0"/>
            <a:ext cx="256032" cy="640080"/>
          </a:xfrm>
          <a:prstGeom prst="rect">
            <a:avLst/>
          </a:prstGeom>
          <a:solidFill>
            <a:srgbClr val="D9EB12"/>
          </a:solidFill>
          <a:ln w="12700">
            <a:solidFill>
              <a:srgbClr val="D9EB12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503152" y="5897880"/>
            <a:ext cx="237744" cy="749808"/>
          </a:xfrm>
          <a:prstGeom prst="rect">
            <a:avLst/>
          </a:prstGeom>
          <a:solidFill>
            <a:srgbClr val="45D9C7">
              <a:alpha val="92000"/>
            </a:srgbClr>
          </a:solidFill>
          <a:ln w="12700">
            <a:solidFill>
              <a:srgbClr val="45D9C7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53312" y="713232"/>
            <a:ext cx="836676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2727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Unit-Tests</a:t>
            </a:r>
            <a:endParaRPr lang="en-US" sz="3100" dirty="0"/>
          </a:p>
          <a:p>
            <a:pPr indent="0" marL="0">
              <a:buNone/>
            </a:pPr>
            <a:r>
              <a:rPr lang="en-US" sz="3100" b="1" dirty="0">
                <a:solidFill>
                  <a:srgbClr val="2727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FIRST</a:t>
            </a:r>
            <a:endParaRPr lang="en-US" sz="3100" dirty="0"/>
          </a:p>
        </p:txBody>
      </p:sp>
      <p:sp>
        <p:nvSpPr>
          <p:cNvPr id="9" name="Shape 7"/>
          <p:cNvSpPr/>
          <p:nvPr/>
        </p:nvSpPr>
        <p:spPr>
          <a:xfrm>
            <a:off x="1024128" y="1581912"/>
            <a:ext cx="1645920" cy="73152"/>
          </a:xfrm>
          <a:prstGeom prst="rect">
            <a:avLst/>
          </a:prstGeom>
          <a:solidFill>
            <a:srgbClr val="D9EB12"/>
          </a:solidFill>
          <a:ln w="12700">
            <a:solidFill>
              <a:srgbClr val="D9EB12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53312" y="1901952"/>
            <a:ext cx="9098280" cy="41605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2346" dirty="0">
                <a:solidFill>
                  <a:srgbClr val="2727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Zweck: Automatisiertes Testen von einzelnen Methoden ohne Abhängigkeiten</a:t>
            </a:r>
            <a:endParaRPr lang="en-US" sz="2346" dirty="0"/>
          </a:p>
        </p:txBody>
      </p:sp>
      <p:sp>
        <p:nvSpPr>
          <p:cNvPr id="11" name="Text 9"/>
          <p:cNvSpPr/>
          <p:nvPr/>
        </p:nvSpPr>
        <p:spPr>
          <a:xfrm>
            <a:off x="530352" y="6446520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2727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ICT-LEARNFACTORY</a:t>
            </a:r>
            <a:endParaRPr lang="en-US" sz="650" dirty="0"/>
          </a:p>
        </p:txBody>
      </p:sp>
      <p:sp>
        <p:nvSpPr>
          <p:cNvPr id="12" name="Text 10"/>
          <p:cNvSpPr/>
          <p:nvPr/>
        </p:nvSpPr>
        <p:spPr>
          <a:xfrm>
            <a:off x="9144000" y="6446520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2727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Unit Testing TDD</a:t>
            </a:r>
            <a:endParaRPr lang="en-US" sz="6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352" y="384048"/>
            <a:ext cx="146304" cy="749808"/>
          </a:xfrm>
          <a:prstGeom prst="rect">
            <a:avLst/>
          </a:prstGeom>
          <a:solidFill>
            <a:srgbClr val="29948C"/>
          </a:solidFill>
          <a:ln w="12700">
            <a:solidFill>
              <a:srgbClr val="29948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68096" y="384048"/>
            <a:ext cx="146304" cy="438912"/>
          </a:xfrm>
          <a:prstGeom prst="rect">
            <a:avLst/>
          </a:prstGeom>
          <a:solidFill>
            <a:srgbClr val="D9EB12"/>
          </a:solidFill>
          <a:ln w="12700">
            <a:solidFill>
              <a:srgbClr val="D9EB12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05840" y="384048"/>
            <a:ext cx="146304" cy="749808"/>
          </a:xfrm>
          <a:prstGeom prst="rect">
            <a:avLst/>
          </a:prstGeom>
          <a:solidFill>
            <a:srgbClr val="29948C"/>
          </a:solidFill>
          <a:ln w="12700">
            <a:solidFill>
              <a:srgbClr val="29948C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082528" y="0"/>
            <a:ext cx="256032" cy="960120"/>
          </a:xfrm>
          <a:prstGeom prst="rect">
            <a:avLst/>
          </a:prstGeom>
          <a:solidFill>
            <a:srgbClr val="45D9C7">
              <a:alpha val="92000"/>
            </a:srgbClr>
          </a:solidFill>
          <a:ln w="12700">
            <a:solidFill>
              <a:srgbClr val="45D9C7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475720" y="0"/>
            <a:ext cx="256032" cy="640080"/>
          </a:xfrm>
          <a:prstGeom prst="rect">
            <a:avLst/>
          </a:prstGeom>
          <a:solidFill>
            <a:srgbClr val="D9EB12"/>
          </a:solidFill>
          <a:ln w="12700">
            <a:solidFill>
              <a:srgbClr val="D9EB12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503152" y="5897880"/>
            <a:ext cx="237744" cy="749808"/>
          </a:xfrm>
          <a:prstGeom prst="rect">
            <a:avLst/>
          </a:prstGeom>
          <a:solidFill>
            <a:srgbClr val="45D9C7">
              <a:alpha val="92000"/>
            </a:srgbClr>
          </a:solidFill>
          <a:ln w="12700">
            <a:solidFill>
              <a:srgbClr val="45D9C7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53312" y="713232"/>
            <a:ext cx="836676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2727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Test Driven Development (TDD)</a:t>
            </a:r>
            <a:endParaRPr lang="en-US" sz="3100" dirty="0"/>
          </a:p>
        </p:txBody>
      </p:sp>
      <p:sp>
        <p:nvSpPr>
          <p:cNvPr id="9" name="Shape 7"/>
          <p:cNvSpPr/>
          <p:nvPr/>
        </p:nvSpPr>
        <p:spPr>
          <a:xfrm>
            <a:off x="1024128" y="1581912"/>
            <a:ext cx="1645920" cy="73152"/>
          </a:xfrm>
          <a:prstGeom prst="rect">
            <a:avLst/>
          </a:prstGeom>
          <a:solidFill>
            <a:srgbClr val="D9EB12"/>
          </a:solidFill>
          <a:ln w="12700">
            <a:solidFill>
              <a:srgbClr val="D9EB12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53312" y="1901952"/>
            <a:ext cx="9098280" cy="41605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2346" dirty="0">
                <a:solidFill>
                  <a:srgbClr val="2727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Bestandteil von verschiedenen agilen Entwicklungsmethoden.</a:t>
            </a:r>
            <a:endParaRPr lang="en-US" sz="2346" dirty="0"/>
          </a:p>
          <a:p>
            <a:pPr indent="0" marL="0">
              <a:buNone/>
            </a:pPr>
            <a:r>
              <a:rPr lang="en-US" sz="2346" dirty="0">
                <a:solidFill>
                  <a:srgbClr val="2727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Tests vor Logik</a:t>
            </a:r>
            <a:endParaRPr lang="en-US" sz="2346" dirty="0"/>
          </a:p>
          <a:p>
            <a:pPr indent="0" marL="0">
              <a:buNone/>
            </a:pPr>
            <a:r>
              <a:rPr lang="en-US" sz="2346" dirty="0">
                <a:solidFill>
                  <a:srgbClr val="2727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Bessere Konzeption des Codes</a:t>
            </a:r>
            <a:endParaRPr lang="en-US" sz="2346" dirty="0"/>
          </a:p>
          <a:p>
            <a:pPr indent="0" marL="0">
              <a:buNone/>
            </a:pPr>
            <a:r>
              <a:rPr lang="en-US" sz="2346" dirty="0">
                <a:solidFill>
                  <a:srgbClr val="2727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Tests werden nicht aussen vorgelassen</a:t>
            </a:r>
            <a:endParaRPr lang="en-US" sz="2346" dirty="0"/>
          </a:p>
          <a:p>
            <a:pPr indent="0" marL="0">
              <a:buNone/>
            </a:pPr>
            <a:r>
              <a:rPr lang="en-US" sz="2346" dirty="0">
                <a:solidFill>
                  <a:srgbClr val="2727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Höhere Wartbarkeit</a:t>
            </a:r>
            <a:endParaRPr lang="en-US" sz="2346" dirty="0"/>
          </a:p>
        </p:txBody>
      </p:sp>
      <p:sp>
        <p:nvSpPr>
          <p:cNvPr id="11" name="Text 9"/>
          <p:cNvSpPr/>
          <p:nvPr/>
        </p:nvSpPr>
        <p:spPr>
          <a:xfrm>
            <a:off x="530352" y="6446520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2727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ICT-LEARNFACTORY</a:t>
            </a:r>
            <a:endParaRPr lang="en-US" sz="650" dirty="0"/>
          </a:p>
        </p:txBody>
      </p:sp>
      <p:sp>
        <p:nvSpPr>
          <p:cNvPr id="12" name="Text 10"/>
          <p:cNvSpPr/>
          <p:nvPr/>
        </p:nvSpPr>
        <p:spPr>
          <a:xfrm>
            <a:off x="9144000" y="6446520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2727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Unit Testing TDD</a:t>
            </a:r>
            <a:endParaRPr lang="en-US" sz="6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352" y="384048"/>
            <a:ext cx="146304" cy="749808"/>
          </a:xfrm>
          <a:prstGeom prst="rect">
            <a:avLst/>
          </a:prstGeom>
          <a:solidFill>
            <a:srgbClr val="29948C"/>
          </a:solidFill>
          <a:ln w="12700">
            <a:solidFill>
              <a:srgbClr val="29948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68096" y="384048"/>
            <a:ext cx="146304" cy="438912"/>
          </a:xfrm>
          <a:prstGeom prst="rect">
            <a:avLst/>
          </a:prstGeom>
          <a:solidFill>
            <a:srgbClr val="D9EB12"/>
          </a:solidFill>
          <a:ln w="12700">
            <a:solidFill>
              <a:srgbClr val="D9EB12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05840" y="384048"/>
            <a:ext cx="146304" cy="749808"/>
          </a:xfrm>
          <a:prstGeom prst="rect">
            <a:avLst/>
          </a:prstGeom>
          <a:solidFill>
            <a:srgbClr val="29948C"/>
          </a:solidFill>
          <a:ln w="12700">
            <a:solidFill>
              <a:srgbClr val="29948C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082528" y="0"/>
            <a:ext cx="256032" cy="960120"/>
          </a:xfrm>
          <a:prstGeom prst="rect">
            <a:avLst/>
          </a:prstGeom>
          <a:solidFill>
            <a:srgbClr val="45D9C7">
              <a:alpha val="92000"/>
            </a:srgbClr>
          </a:solidFill>
          <a:ln w="12700">
            <a:solidFill>
              <a:srgbClr val="45D9C7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475720" y="0"/>
            <a:ext cx="256032" cy="640080"/>
          </a:xfrm>
          <a:prstGeom prst="rect">
            <a:avLst/>
          </a:prstGeom>
          <a:solidFill>
            <a:srgbClr val="D9EB12"/>
          </a:solidFill>
          <a:ln w="12700">
            <a:solidFill>
              <a:srgbClr val="D9EB12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503152" y="5897880"/>
            <a:ext cx="237744" cy="749808"/>
          </a:xfrm>
          <a:prstGeom prst="rect">
            <a:avLst/>
          </a:prstGeom>
          <a:solidFill>
            <a:srgbClr val="45D9C7">
              <a:alpha val="92000"/>
            </a:srgbClr>
          </a:solidFill>
          <a:ln w="12700">
            <a:solidFill>
              <a:srgbClr val="45D9C7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53312" y="621792"/>
            <a:ext cx="8458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2727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Test Driven Development</a:t>
            </a:r>
            <a:endParaRPr lang="en-US" sz="2900" dirty="0"/>
          </a:p>
          <a:p>
            <a:pPr indent="0" marL="0">
              <a:buNone/>
            </a:pPr>
            <a:r>
              <a:rPr lang="en-US" sz="2900" b="1" dirty="0">
                <a:solidFill>
                  <a:srgbClr val="2727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Red – Green – Refactor</a:t>
            </a:r>
            <a:endParaRPr lang="en-US" sz="2900" dirty="0"/>
          </a:p>
        </p:txBody>
      </p:sp>
      <p:sp>
        <p:nvSpPr>
          <p:cNvPr id="9" name="Shape 7"/>
          <p:cNvSpPr/>
          <p:nvPr/>
        </p:nvSpPr>
        <p:spPr>
          <a:xfrm>
            <a:off x="841248" y="1335024"/>
            <a:ext cx="1463040" cy="73152"/>
          </a:xfrm>
          <a:prstGeom prst="rect">
            <a:avLst/>
          </a:prstGeom>
          <a:solidFill>
            <a:srgbClr val="D9EB12"/>
          </a:solidFill>
          <a:ln w="12700">
            <a:solidFill>
              <a:srgbClr val="D9EB12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252728" y="1545336"/>
            <a:ext cx="9701784" cy="4608576"/>
          </a:xfrm>
          <a:prstGeom prst="rect">
            <a:avLst/>
          </a:prstGeom>
          <a:solidFill>
            <a:srgbClr val="FFFFFF"/>
          </a:solidFill>
          <a:ln w="8890">
            <a:solidFill>
              <a:srgbClr val="E4ECEB"/>
            </a:solidFill>
            <a:prstDash val="solid"/>
          </a:ln>
        </p:spPr>
      </p:sp>
      <p:pic>
        <p:nvPicPr>
          <p:cNvPr id="11" name="Image 0" descr="/mnt/data/batch_work/converted/04_Unit-Testing-TDD/slide-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58406" y="1572768"/>
            <a:ext cx="8090428" cy="4553712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530352" y="6446520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2727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ICT-LEARNFACTORY</a:t>
            </a:r>
            <a:endParaRPr lang="en-US" sz="650" dirty="0"/>
          </a:p>
        </p:txBody>
      </p:sp>
      <p:sp>
        <p:nvSpPr>
          <p:cNvPr id="13" name="Text 10"/>
          <p:cNvSpPr/>
          <p:nvPr/>
        </p:nvSpPr>
        <p:spPr>
          <a:xfrm>
            <a:off x="9144000" y="6446520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2727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Unit Testing TDD</a:t>
            </a:r>
            <a:endParaRPr lang="en-US" sz="6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352" y="384048"/>
            <a:ext cx="146304" cy="749808"/>
          </a:xfrm>
          <a:prstGeom prst="rect">
            <a:avLst/>
          </a:prstGeom>
          <a:solidFill>
            <a:srgbClr val="29948C"/>
          </a:solidFill>
          <a:ln w="12700">
            <a:solidFill>
              <a:srgbClr val="29948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68096" y="384048"/>
            <a:ext cx="146304" cy="438912"/>
          </a:xfrm>
          <a:prstGeom prst="rect">
            <a:avLst/>
          </a:prstGeom>
          <a:solidFill>
            <a:srgbClr val="D9EB12"/>
          </a:solidFill>
          <a:ln w="12700">
            <a:solidFill>
              <a:srgbClr val="D9EB12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05840" y="384048"/>
            <a:ext cx="146304" cy="749808"/>
          </a:xfrm>
          <a:prstGeom prst="rect">
            <a:avLst/>
          </a:prstGeom>
          <a:solidFill>
            <a:srgbClr val="29948C"/>
          </a:solidFill>
          <a:ln w="12700">
            <a:solidFill>
              <a:srgbClr val="29948C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082528" y="0"/>
            <a:ext cx="256032" cy="960120"/>
          </a:xfrm>
          <a:prstGeom prst="rect">
            <a:avLst/>
          </a:prstGeom>
          <a:solidFill>
            <a:srgbClr val="45D9C7">
              <a:alpha val="92000"/>
            </a:srgbClr>
          </a:solidFill>
          <a:ln w="12700">
            <a:solidFill>
              <a:srgbClr val="45D9C7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475720" y="0"/>
            <a:ext cx="256032" cy="640080"/>
          </a:xfrm>
          <a:prstGeom prst="rect">
            <a:avLst/>
          </a:prstGeom>
          <a:solidFill>
            <a:srgbClr val="D9EB12"/>
          </a:solidFill>
          <a:ln w="12700">
            <a:solidFill>
              <a:srgbClr val="D9EB12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503152" y="5897880"/>
            <a:ext cx="237744" cy="749808"/>
          </a:xfrm>
          <a:prstGeom prst="rect">
            <a:avLst/>
          </a:prstGeom>
          <a:solidFill>
            <a:srgbClr val="45D9C7">
              <a:alpha val="92000"/>
            </a:srgbClr>
          </a:solidFill>
          <a:ln w="12700">
            <a:solidFill>
              <a:srgbClr val="45D9C7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53312" y="621792"/>
            <a:ext cx="8458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2727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Test Driven Development</a:t>
            </a:r>
            <a:endParaRPr lang="en-US" sz="2900" dirty="0"/>
          </a:p>
          <a:p>
            <a:pPr indent="0" marL="0">
              <a:buNone/>
            </a:pPr>
            <a:r>
              <a:rPr lang="en-US" sz="2900" b="1" dirty="0">
                <a:solidFill>
                  <a:srgbClr val="2727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Genauer..</a:t>
            </a:r>
            <a:endParaRPr lang="en-US" sz="2900" dirty="0"/>
          </a:p>
        </p:txBody>
      </p:sp>
      <p:sp>
        <p:nvSpPr>
          <p:cNvPr id="9" name="Shape 7"/>
          <p:cNvSpPr/>
          <p:nvPr/>
        </p:nvSpPr>
        <p:spPr>
          <a:xfrm>
            <a:off x="841248" y="1335024"/>
            <a:ext cx="1463040" cy="73152"/>
          </a:xfrm>
          <a:prstGeom prst="rect">
            <a:avLst/>
          </a:prstGeom>
          <a:solidFill>
            <a:srgbClr val="D9EB12"/>
          </a:solidFill>
          <a:ln w="12700">
            <a:solidFill>
              <a:srgbClr val="D9EB12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252728" y="1545336"/>
            <a:ext cx="9701784" cy="4608576"/>
          </a:xfrm>
          <a:prstGeom prst="rect">
            <a:avLst/>
          </a:prstGeom>
          <a:solidFill>
            <a:srgbClr val="FFFFFF"/>
          </a:solidFill>
          <a:ln w="8890">
            <a:solidFill>
              <a:srgbClr val="E4ECEB"/>
            </a:solidFill>
            <a:prstDash val="solid"/>
          </a:ln>
        </p:spPr>
      </p:sp>
      <p:pic>
        <p:nvPicPr>
          <p:cNvPr id="11" name="Image 0" descr="/mnt/data/batch_work/converted/04_Unit-Testing-TDD/slide-1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58406" y="1572768"/>
            <a:ext cx="8090428" cy="4553712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530352" y="6446520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2727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ICT-LEARNFACTORY</a:t>
            </a:r>
            <a:endParaRPr lang="en-US" sz="650" dirty="0"/>
          </a:p>
        </p:txBody>
      </p:sp>
      <p:sp>
        <p:nvSpPr>
          <p:cNvPr id="13" name="Text 10"/>
          <p:cNvSpPr/>
          <p:nvPr/>
        </p:nvSpPr>
        <p:spPr>
          <a:xfrm>
            <a:off x="9144000" y="6446520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2727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Unit Testing TDD</a:t>
            </a:r>
            <a:endParaRPr lang="en-US" sz="6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352" y="384048"/>
            <a:ext cx="146304" cy="749808"/>
          </a:xfrm>
          <a:prstGeom prst="rect">
            <a:avLst/>
          </a:prstGeom>
          <a:solidFill>
            <a:srgbClr val="29948C"/>
          </a:solidFill>
          <a:ln w="12700">
            <a:solidFill>
              <a:srgbClr val="29948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68096" y="384048"/>
            <a:ext cx="146304" cy="438912"/>
          </a:xfrm>
          <a:prstGeom prst="rect">
            <a:avLst/>
          </a:prstGeom>
          <a:solidFill>
            <a:srgbClr val="D9EB12"/>
          </a:solidFill>
          <a:ln w="12700">
            <a:solidFill>
              <a:srgbClr val="D9EB12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05840" y="384048"/>
            <a:ext cx="146304" cy="749808"/>
          </a:xfrm>
          <a:prstGeom prst="rect">
            <a:avLst/>
          </a:prstGeom>
          <a:solidFill>
            <a:srgbClr val="29948C"/>
          </a:solidFill>
          <a:ln w="12700">
            <a:solidFill>
              <a:srgbClr val="29948C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082528" y="0"/>
            <a:ext cx="256032" cy="960120"/>
          </a:xfrm>
          <a:prstGeom prst="rect">
            <a:avLst/>
          </a:prstGeom>
          <a:solidFill>
            <a:srgbClr val="45D9C7">
              <a:alpha val="92000"/>
            </a:srgbClr>
          </a:solidFill>
          <a:ln w="12700">
            <a:solidFill>
              <a:srgbClr val="45D9C7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475720" y="0"/>
            <a:ext cx="256032" cy="640080"/>
          </a:xfrm>
          <a:prstGeom prst="rect">
            <a:avLst/>
          </a:prstGeom>
          <a:solidFill>
            <a:srgbClr val="D9EB12"/>
          </a:solidFill>
          <a:ln w="12700">
            <a:solidFill>
              <a:srgbClr val="D9EB12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503152" y="5897880"/>
            <a:ext cx="237744" cy="749808"/>
          </a:xfrm>
          <a:prstGeom prst="rect">
            <a:avLst/>
          </a:prstGeom>
          <a:solidFill>
            <a:srgbClr val="45D9C7">
              <a:alpha val="92000"/>
            </a:srgbClr>
          </a:solidFill>
          <a:ln w="12700">
            <a:solidFill>
              <a:srgbClr val="45D9C7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53312" y="621792"/>
            <a:ext cx="8458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2727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Test Driven Development</a:t>
            </a:r>
            <a:endParaRPr lang="en-US" sz="2900" dirty="0"/>
          </a:p>
        </p:txBody>
      </p:sp>
      <p:sp>
        <p:nvSpPr>
          <p:cNvPr id="9" name="Shape 7"/>
          <p:cNvSpPr/>
          <p:nvPr/>
        </p:nvSpPr>
        <p:spPr>
          <a:xfrm>
            <a:off x="841248" y="1335024"/>
            <a:ext cx="1463040" cy="73152"/>
          </a:xfrm>
          <a:prstGeom prst="rect">
            <a:avLst/>
          </a:prstGeom>
          <a:solidFill>
            <a:srgbClr val="D9EB12"/>
          </a:solidFill>
          <a:ln w="12700">
            <a:solidFill>
              <a:srgbClr val="D9EB12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252728" y="1545336"/>
            <a:ext cx="9701784" cy="4608576"/>
          </a:xfrm>
          <a:prstGeom prst="rect">
            <a:avLst/>
          </a:prstGeom>
          <a:solidFill>
            <a:srgbClr val="FFFFFF"/>
          </a:solidFill>
          <a:ln w="8890">
            <a:solidFill>
              <a:srgbClr val="E4ECEB"/>
            </a:solidFill>
            <a:prstDash val="solid"/>
          </a:ln>
        </p:spPr>
      </p:sp>
      <p:pic>
        <p:nvPicPr>
          <p:cNvPr id="11" name="Image 0" descr="/mnt/data/batch_work/converted/04_Unit-Testing-TDD/slide-1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58406" y="1572768"/>
            <a:ext cx="8090428" cy="4553712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530352" y="6446520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2727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ICT-LEARNFACTORY</a:t>
            </a:r>
            <a:endParaRPr lang="en-US" sz="650" dirty="0"/>
          </a:p>
        </p:txBody>
      </p:sp>
      <p:sp>
        <p:nvSpPr>
          <p:cNvPr id="13" name="Text 10"/>
          <p:cNvSpPr/>
          <p:nvPr/>
        </p:nvSpPr>
        <p:spPr>
          <a:xfrm>
            <a:off x="9144000" y="6446520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2727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Unit Testing TDD</a:t>
            </a:r>
            <a:endParaRPr lang="en-US" sz="6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352" y="384048"/>
            <a:ext cx="146304" cy="749808"/>
          </a:xfrm>
          <a:prstGeom prst="rect">
            <a:avLst/>
          </a:prstGeom>
          <a:solidFill>
            <a:srgbClr val="29948C"/>
          </a:solidFill>
          <a:ln w="12700">
            <a:solidFill>
              <a:srgbClr val="29948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68096" y="384048"/>
            <a:ext cx="146304" cy="438912"/>
          </a:xfrm>
          <a:prstGeom prst="rect">
            <a:avLst/>
          </a:prstGeom>
          <a:solidFill>
            <a:srgbClr val="D9EB12"/>
          </a:solidFill>
          <a:ln w="12700">
            <a:solidFill>
              <a:srgbClr val="D9EB12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05840" y="384048"/>
            <a:ext cx="146304" cy="749808"/>
          </a:xfrm>
          <a:prstGeom prst="rect">
            <a:avLst/>
          </a:prstGeom>
          <a:solidFill>
            <a:srgbClr val="29948C"/>
          </a:solidFill>
          <a:ln w="12700">
            <a:solidFill>
              <a:srgbClr val="29948C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082528" y="0"/>
            <a:ext cx="256032" cy="960120"/>
          </a:xfrm>
          <a:prstGeom prst="rect">
            <a:avLst/>
          </a:prstGeom>
          <a:solidFill>
            <a:srgbClr val="45D9C7">
              <a:alpha val="92000"/>
            </a:srgbClr>
          </a:solidFill>
          <a:ln w="12700">
            <a:solidFill>
              <a:srgbClr val="45D9C7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475720" y="0"/>
            <a:ext cx="256032" cy="640080"/>
          </a:xfrm>
          <a:prstGeom prst="rect">
            <a:avLst/>
          </a:prstGeom>
          <a:solidFill>
            <a:srgbClr val="D9EB12"/>
          </a:solidFill>
          <a:ln w="12700">
            <a:solidFill>
              <a:srgbClr val="D9EB12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503152" y="5897880"/>
            <a:ext cx="237744" cy="749808"/>
          </a:xfrm>
          <a:prstGeom prst="rect">
            <a:avLst/>
          </a:prstGeom>
          <a:solidFill>
            <a:srgbClr val="45D9C7">
              <a:alpha val="92000"/>
            </a:srgbClr>
          </a:solidFill>
          <a:ln w="12700">
            <a:solidFill>
              <a:srgbClr val="45D9C7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70432" y="2267712"/>
            <a:ext cx="58521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100" b="1" dirty="0">
                <a:solidFill>
                  <a:srgbClr val="2727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Fragen?</a:t>
            </a:r>
            <a:endParaRPr lang="en-US" sz="6100" dirty="0"/>
          </a:p>
        </p:txBody>
      </p:sp>
      <p:sp>
        <p:nvSpPr>
          <p:cNvPr id="9" name="Shape 7"/>
          <p:cNvSpPr/>
          <p:nvPr/>
        </p:nvSpPr>
        <p:spPr>
          <a:xfrm>
            <a:off x="1170432" y="3538728"/>
            <a:ext cx="1920240" cy="73152"/>
          </a:xfrm>
          <a:prstGeom prst="rect">
            <a:avLst/>
          </a:prstGeom>
          <a:solidFill>
            <a:srgbClr val="D9EB12"/>
          </a:solidFill>
          <a:ln w="12700">
            <a:solidFill>
              <a:srgbClr val="D9EB12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0352" y="6446520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2727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ICT-LEARNFACTORY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9144000" y="6446520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2727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Unit Testing TDD</a:t>
            </a:r>
            <a:endParaRPr lang="en-US" sz="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04_Unit-Testing-TDD</dc:title>
  <dc:subject>Redesigned ICT-LearnFactory module presentation</dc:subject>
  <dc:creator>OpenAI</dc:creator>
  <cp:lastModifiedBy>OpenAI</cp:lastModifiedBy>
  <cp:revision>1</cp:revision>
  <dcterms:created xsi:type="dcterms:W3CDTF">2026-08-16T09:28:04Z</dcterms:created>
  <dcterms:modified xsi:type="dcterms:W3CDTF">2026-08-16T09:28:04Z</dcterms:modified>
</cp:coreProperties>
</file>